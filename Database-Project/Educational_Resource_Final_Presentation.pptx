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c3f5c9bdd647da" /><Relationship Type="http://schemas.openxmlformats.org/officeDocument/2006/relationships/extended-properties" Target="/docProps/app.xml" Id="R0892c0ddee40424d" /><Relationship Type="http://schemas.openxmlformats.org/officeDocument/2006/relationships/officeDocument" Target="/ppt/presentation.xml" Id="Rae5a8bc33ce54c4a" /></Relationships>
</file>

<file path=ppt/presentation.xml><?xml version="1.0" encoding="utf-8"?>
<p:presentation xmlns:p="http://schemas.openxmlformats.org/presentationml/2006/main">
  <p:sldMasterIdLst>
    <p:sldMasterId xmlns:r="http://schemas.openxmlformats.org/officeDocument/2006/relationships" id="2147483648" r:id="R0837969836f04ffe"/>
  </p:sldMasterIdLst>
  <p:notesMasterIdLst>
    <p:notesMasterId xmlns:r="http://schemas.openxmlformats.org/officeDocument/2006/relationships" r:id="Rca29d81f514949f2"/>
  </p:notesMasterIdLst>
  <p:sldIdLst>
    <p:sldId xmlns:r="http://schemas.openxmlformats.org/officeDocument/2006/relationships" id="256" r:id="R4030fc3993f04e8e"/>
    <p:sldId xmlns:r="http://schemas.openxmlformats.org/officeDocument/2006/relationships" id="257" r:id="R1a76b1c8a5014a59"/>
    <p:sldId xmlns:r="http://schemas.openxmlformats.org/officeDocument/2006/relationships" id="258" r:id="R70d9fbc4e87d4f85"/>
    <p:sldId xmlns:r="http://schemas.openxmlformats.org/officeDocument/2006/relationships" id="259" r:id="R22d2717f6c074bcc"/>
    <p:sldId xmlns:r="http://schemas.openxmlformats.org/officeDocument/2006/relationships" id="260" r:id="Re8f941db58a24db1"/>
    <p:sldId xmlns:r="http://schemas.openxmlformats.org/officeDocument/2006/relationships" id="261" r:id="R03eaa47b84fb4965"/>
    <p:sldId xmlns:r="http://schemas.openxmlformats.org/officeDocument/2006/relationships" id="262" r:id="R4b52d5575dad4131"/>
    <p:sldId xmlns:r="http://schemas.openxmlformats.org/officeDocument/2006/relationships" id="263" r:id="Rd61bf72de040463e"/>
    <p:sldId xmlns:r="http://schemas.openxmlformats.org/officeDocument/2006/relationships" id="264" r:id="Ra9c556b87f2741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a04ea3e1494e8e" /><Relationship Type="http://schemas.openxmlformats.org/officeDocument/2006/relationships/slideMaster" Target="/ppt/slideMasters/slideMaster1.xml" Id="R0837969836f04ffe" /><Relationship Type="http://schemas.openxmlformats.org/officeDocument/2006/relationships/notesMaster" Target="/ppt/notesMasters/notesMaster1.xml" Id="Rca29d81f514949f2" /><Relationship Type="http://schemas.openxmlformats.org/officeDocument/2006/relationships/presProps" Target="/ppt/presProps.xml" Id="R2c383550839e4c42" /><Relationship Type="http://schemas.openxmlformats.org/officeDocument/2006/relationships/tableStyles" Target="/ppt/tableStyles.xml" Id="R1a2a910bdb5048f5" /><Relationship Type="http://schemas.openxmlformats.org/officeDocument/2006/relationships/slide" Target="/ppt/slides/slide1.xml" Id="R4030fc3993f04e8e" /><Relationship Type="http://schemas.openxmlformats.org/officeDocument/2006/relationships/slide" Target="/ppt/slides/slide2.xml" Id="R1a76b1c8a5014a59" /><Relationship Type="http://schemas.openxmlformats.org/officeDocument/2006/relationships/slide" Target="/ppt/slides/slide3.xml" Id="R70d9fbc4e87d4f85" /><Relationship Type="http://schemas.openxmlformats.org/officeDocument/2006/relationships/slide" Target="/ppt/slides/slide4.xml" Id="R22d2717f6c074bcc" /><Relationship Type="http://schemas.openxmlformats.org/officeDocument/2006/relationships/slide" Target="/ppt/slides/slide5.xml" Id="Re8f941db58a24db1" /><Relationship Type="http://schemas.openxmlformats.org/officeDocument/2006/relationships/slide" Target="/ppt/slides/slide6.xml" Id="R03eaa47b84fb4965" /><Relationship Type="http://schemas.openxmlformats.org/officeDocument/2006/relationships/slide" Target="/ppt/slides/slide7.xml" Id="R4b52d5575dad4131" /><Relationship Type="http://schemas.openxmlformats.org/officeDocument/2006/relationships/slide" Target="/ppt/slides/slide8.xml" Id="Rd61bf72de040463e" /><Relationship Type="http://schemas.openxmlformats.org/officeDocument/2006/relationships/slide" Target="/ppt/slides/slide9.xml" Id="Ra9c556b87f2741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2df44fe6ca42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06c69a7a4f46ef" /><Relationship Type="http://schemas.openxmlformats.org/officeDocument/2006/relationships/notesMaster" Target="/ppt/notesMasters/notesMaster1.xml" Id="Red15d5c03b1a47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70194ac26e4cf5" /><Relationship Type="http://schemas.openxmlformats.org/officeDocument/2006/relationships/notesMaster" Target="/ppt/notesMasters/notesMaster1.xml" Id="R0a749399a4b34c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84287898d04bed" /><Relationship Type="http://schemas.openxmlformats.org/officeDocument/2006/relationships/notesMaster" Target="/ppt/notesMasters/notesMaster1.xml" Id="R40ec3c68fed642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9e15e7e97e42e1" /><Relationship Type="http://schemas.openxmlformats.org/officeDocument/2006/relationships/notesMaster" Target="/ppt/notesMasters/notesMaster1.xml" Id="Rdad7937d1ee540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e618a287524c12" /><Relationship Type="http://schemas.openxmlformats.org/officeDocument/2006/relationships/notesMaster" Target="/ppt/notesMasters/notesMaster1.xml" Id="R8c650efbf6494f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37abd163b94ae4" /><Relationship Type="http://schemas.openxmlformats.org/officeDocument/2006/relationships/notesMaster" Target="/ppt/notesMasters/notesMaster1.xml" Id="Rf75cb4b51ef445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752c729ed64835" /><Relationship Type="http://schemas.openxmlformats.org/officeDocument/2006/relationships/notesMaster" Target="/ppt/notesMasters/notesMaster1.xml" Id="R154a5ef8464b4f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604ed16b894ffc" /><Relationship Type="http://schemas.openxmlformats.org/officeDocument/2006/relationships/notesMaster" Target="/ppt/notesMasters/notesMaster1.xml" Id="R5961dcd93bde4e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b771d6a7334c40" /><Relationship Type="http://schemas.openxmlformats.org/officeDocument/2006/relationships/notesMaster" Target="/ppt/notesMasters/notesMaster1.xml" Id="Rb68418c7065f4b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Anudari Undrakh</a:t>
            </a:r>
          </a:p>
          <a:p xmlns:a="http://schemas.openxmlformats.org/drawingml/2006/main">
            <a:r>
              <a:t>Target time: 0:20–0:25</a:t>
            </a:r>
          </a:p>
          <a:p xmlns:a="http://schemas.openxmlformats.org/drawingml/2006/main">
            <a:r>
              <a:t/>
            </a:r>
          </a:p>
          <a:p xmlns:a="http://schemas.openxmlformats.org/drawingml/2006/main">
            <a:r>
              <a:t>SCRIPT</a:t>
            </a:r>
          </a:p>
          <a:p xmlns:a="http://schemas.openxmlformats.org/drawingml/2006/main">
            <a:r>
              <a:t>Hello. We are Anudari Undrakh and Jose Antonio Horta Herrera. Our project is the Educational Resource Management System. It gives a college one searchable place for course materials. In this presentation, we will explain the database design, demonstrate four meaningful SQL queries and a view, and finish with the main challenges and lessons we learned.</a:t>
            </a:r>
          </a:p>
          <a:p xmlns:a="http://schemas.openxmlformats.org/drawingml/2006/main">
            <a:r>
              <a:t/>
            </a:r>
          </a:p>
          <a:p xmlns:a="http://schemas.openxmlformats.org/drawingml/2006/main">
            <a:r>
              <a:t>[Sources]</a:t>
            </a:r>
          </a:p>
          <a:p xmlns:a="http://schemas.openxmlformats.org/drawingml/2006/main">
            <a:r>
              <a:t>- Database-Project/README.md</a:t>
            </a:r>
          </a:p>
          <a:p xmlns:a="http://schemas.openxmlformats.org/drawingml/2006/main">
            <a:r>
              <a:t>- Database-Project/Database/Quarterly_Database_Project_Part_3.sql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Anudari Undrakh</a:t>
            </a:r>
          </a:p>
          <a:p xmlns:a="http://schemas.openxmlformats.org/drawingml/2006/main">
            <a:r>
              <a:t>Target time: 0:40–0:50</a:t>
            </a:r>
          </a:p>
          <a:p xmlns:a="http://schemas.openxmlformats.org/drawingml/2006/main">
            <a:r>
              <a:t/>
            </a:r>
          </a:p>
          <a:p xmlns:a="http://schemas.openxmlformats.org/drawingml/2006/main">
            <a:r>
              <a:t>SCRIPT</a:t>
            </a:r>
          </a:p>
          <a:p xmlns:a="http://schemas.openxmlformats.org/drawingml/2006/main">
            <a:r>
              <a:t>The real-world problem is that a college may track textbooks, e-books, videos, lab materials, software, and assessments in many separate places. That makes it harder to find the correct item, know whether it is available, or understand how it is being used. Our database centralizes that information. Students can find course materials, instructors can assign resources, resource administrators can maintain availability and locations, and academic coordinators can review access and feedback. The goal is not only storage. The goal is reliable discovery, assignment, and reporting.</a:t>
            </a:r>
          </a:p>
          <a:p xmlns:a="http://schemas.openxmlformats.org/drawingml/2006/main">
            <a:r>
              <a:t/>
            </a:r>
          </a:p>
          <a:p xmlns:a="http://schemas.openxmlformats.org/drawingml/2006/main">
            <a:r>
              <a:t>[Sources]</a:t>
            </a:r>
          </a:p>
          <a:p xmlns:a="http://schemas.openxmlformats.org/drawingml/2006/main">
            <a:r>
              <a:t>- Database-Project/README.md</a:t>
            </a:r>
          </a:p>
          <a:p xmlns:a="http://schemas.openxmlformats.org/drawingml/2006/main">
            <a:r>
              <a:t>- Database-Project/Documentation/Database_Design_Explanation.md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Anudari Undrakh</a:t>
            </a:r>
          </a:p>
          <a:p xmlns:a="http://schemas.openxmlformats.org/drawingml/2006/main">
            <a:r>
              <a:t>Target time: 1:00–1:10</a:t>
            </a:r>
          </a:p>
          <a:p xmlns:a="http://schemas.openxmlformats.org/drawingml/2006/main">
            <a:r>
              <a:t/>
            </a:r>
          </a:p>
          <a:p xmlns:a="http://schemas.openxmlformats.org/drawingml/2006/main">
            <a:r>
              <a:t>SCRIPT</a:t>
            </a:r>
          </a:p>
          <a:p xmlns:a="http://schemas.openxmlformats.org/drawingml/2006/main">
            <a:r>
              <a:t>This EER diagram shows the six normalized tables. Users stores students, instructors, administrators, and coordinators. Courses points to its instructor, Categories classifies each Resource, and Resource_Usage records who accessed a resource and what action occurred. The key design decision is Course_Resources. Courses and Resources have a many-to-many relationship, because one course can use many resources and one resource can support many courses. The junction table converts that into two one-to-many relationships and stores assignment details such as whether the item is required and which week it is used. Primary keys identify rows, foreign keys connect them, and unique constraints prevent duplicate emails, course codes, categories, and assignments.</a:t>
            </a:r>
          </a:p>
          <a:p xmlns:a="http://schemas.openxmlformats.org/drawingml/2006/main">
            <a:r>
              <a:t/>
            </a:r>
          </a:p>
          <a:p xmlns:a="http://schemas.openxmlformats.org/drawingml/2006/main">
            <a:r>
              <a:t>[Sources]</a:t>
            </a:r>
          </a:p>
          <a:p xmlns:a="http://schemas.openxmlformats.org/drawingml/2006/main">
            <a:r>
              <a:t>- Database-Project/ERD/EER_Diagram.png</a:t>
            </a:r>
          </a:p>
          <a:p xmlns:a="http://schemas.openxmlformats.org/drawingml/2006/main">
            <a:r>
              <a:t>- Database-Project/Documentation/Database_Design_Explanation.md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Anudari Undrakh</a:t>
            </a:r>
          </a:p>
          <a:p xmlns:a="http://schemas.openxmlformats.org/drawingml/2006/main">
            <a:r>
              <a:t>Target time: 0:50–1:00</a:t>
            </a:r>
          </a:p>
          <a:p xmlns:a="http://schemas.openxmlformats.org/drawingml/2006/main">
            <a:r>
              <a:t/>
            </a:r>
          </a:p>
          <a:p xmlns:a="http://schemas.openxmlformats.org/drawingml/2006/main">
            <a:r>
              <a:t>SCRIPT</a:t>
            </a:r>
          </a:p>
          <a:p xmlns:a="http://schemas.openxmlformats.org/drawingml/2006/main">
            <a:r>
              <a:t>Our first query answers which resources are assigned to each active course and who teaches the course. This is useful for students, instructors, and coordinators because it brings related information into one result instead of requiring them to inspect separate tables. The query follows the relationships from Courses to Users, Course_Resources, and Resources. In MySQL Workbench, I will run the query and point out that each result row represents one course-resource assignment. The is_required field also distinguishes required materials from recommendations. This query demonstrates why the junction table and foreign keys are essential.</a:t>
            </a:r>
          </a:p>
          <a:p xmlns:a="http://schemas.openxmlformats.org/drawingml/2006/main">
            <a:r>
              <a:t/>
            </a:r>
          </a:p>
          <a:p xmlns:a="http://schemas.openxmlformats.org/drawingml/2006/main">
            <a:r>
              <a:t>[Sources]</a:t>
            </a:r>
          </a:p>
          <a:p xmlns:a="http://schemas.openxmlformats.org/drawingml/2006/main">
            <a:r>
              <a:t>- Database-Project/Database/Quarterly_Database_Project_Part_3.sql — Query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Jose Antonio Horta Herrera</a:t>
            </a:r>
          </a:p>
          <a:p xmlns:a="http://schemas.openxmlformats.org/drawingml/2006/main">
            <a:r>
              <a:t>Target time: 1:00–1:10</a:t>
            </a:r>
          </a:p>
          <a:p xmlns:a="http://schemas.openxmlformats.org/drawingml/2006/main">
            <a:r>
              <a:t/>
            </a:r>
          </a:p>
          <a:p xmlns:a="http://schemas.openxmlformats.org/drawingml/2006/main">
            <a:r>
              <a:t>SCRIPT</a:t>
            </a:r>
          </a:p>
          <a:p xmlns:a="http://schemas.openxmlformats.org/drawingml/2006/main">
            <a:r>
              <a:t>The second query answers how many available resources exist in each format and what percentage of the available inventory each format represents. A resource administrator would use this information to identify gaps or decide which formats need more investment. The WHERE clause keeps only available items, GROUP BY creates one group per format, and COUNT calculates the totals. The subquery calculates the overall number of available resources so the outer query can compute each format's percentage. In our sample data, 23 resources are available, and Software has the largest count with four.</a:t>
            </a:r>
          </a:p>
          <a:p xmlns:a="http://schemas.openxmlformats.org/drawingml/2006/main">
            <a:r>
              <a:t/>
            </a:r>
          </a:p>
          <a:p xmlns:a="http://schemas.openxmlformats.org/drawingml/2006/main">
            <a:r>
              <a:t>[Sources]</a:t>
            </a:r>
          </a:p>
          <a:p xmlns:a="http://schemas.openxmlformats.org/drawingml/2006/main">
            <a:r>
              <a:t>- Database-Project/Database/Quarterly_Database_Project_Part_3.sql — Query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Jose Antonio Horta Herrera</a:t>
            </a:r>
          </a:p>
          <a:p xmlns:a="http://schemas.openxmlformats.org/drawingml/2006/main">
            <a:r>
              <a:t>Target time: 1:05–1:15</a:t>
            </a:r>
          </a:p>
          <a:p xmlns:a="http://schemas.openxmlformats.org/drawingml/2006/main">
            <a:r>
              <a:t/>
            </a:r>
          </a:p>
          <a:p xmlns:a="http://schemas.openxmlformats.org/drawingml/2006/main">
            <a:r>
              <a:t>SCRIPT</a:t>
            </a:r>
          </a:p>
          <a:p xmlns:a="http://schemas.openxmlformats.org/drawingml/2006/main">
            <a:r>
              <a:t>The third query summarizes student interaction and feedback. It joins Users, Resource_Usage, and Resources, then limits the results to students. COUNT shows total interactions. CASE inside SUM counts only downloads, and AVG calculates the average rating while ignoring null ratings. GROUP BY creates one result row per student, and HAVING keeps only students with at least one interaction. This information could help instructors identify whether students are using the assigned materials, while coordinators could compare engagement and feedback. The result shows both activity volume and quality signals without deleting the underlying detailed usage records.</a:t>
            </a:r>
          </a:p>
          <a:p xmlns:a="http://schemas.openxmlformats.org/drawingml/2006/main">
            <a:r>
              <a:t/>
            </a:r>
          </a:p>
          <a:p xmlns:a="http://schemas.openxmlformats.org/drawingml/2006/main">
            <a:r>
              <a:t>[Sources]</a:t>
            </a:r>
          </a:p>
          <a:p xmlns:a="http://schemas.openxmlformats.org/drawingml/2006/main">
            <a:r>
              <a:t>- Database-Project/Database/Quarterly_Database_Project_Part_3.sql — Query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Jose Antonio Horta Herrera</a:t>
            </a:r>
          </a:p>
          <a:p xmlns:a="http://schemas.openxmlformats.org/drawingml/2006/main">
            <a:r>
              <a:t>Target time: 1:15–1:25</a:t>
            </a:r>
          </a:p>
          <a:p xmlns:a="http://schemas.openxmlformats.org/drawingml/2006/main">
            <a:r>
              <a:t/>
            </a:r>
          </a:p>
          <a:p xmlns:a="http://schemas.openxmlformats.org/drawingml/2006/main">
            <a:r>
              <a:t>SCRIPT</a:t>
            </a:r>
          </a:p>
          <a:p xmlns:a="http://schemas.openxmlformats.org/drawingml/2006/main">
            <a:r>
              <a:t>To simplify repeated reporting, we created the vw_resource_usage_summary view. It combines Resources, Categories, and Resource_Usage, then calculates interaction counts, average ratings, and the latest access time for every resource. Resource administrators and academic coordinators can use it without rewriting the same long JOIN and GROUP BY. This fourth query retrieves highly rated resources from the view and uses DATE_FORMAT to present the last access date clearly. In Workbench, I will first show the view definition, then run this SELECT statement. The result answers which well-rated resources were accessed most recently and demonstrates how a view makes complex logic easier and more consistent.</a:t>
            </a:r>
          </a:p>
          <a:p xmlns:a="http://schemas.openxmlformats.org/drawingml/2006/main">
            <a:r>
              <a:t/>
            </a:r>
          </a:p>
          <a:p xmlns:a="http://schemas.openxmlformats.org/drawingml/2006/main">
            <a:r>
              <a:t>[Sources]</a:t>
            </a:r>
          </a:p>
          <a:p xmlns:a="http://schemas.openxmlformats.org/drawingml/2006/main">
            <a:r>
              <a:t>- Database-Project/Database/Quarterly_Database_Project_Part_3.sql — vw_resource_usage_summary and Query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Jose Antonio Horta Herrera</a:t>
            </a:r>
          </a:p>
          <a:p xmlns:a="http://schemas.openxmlformats.org/drawingml/2006/main">
            <a:r>
              <a:t>Target time: 1:10–1:20</a:t>
            </a:r>
          </a:p>
          <a:p xmlns:a="http://schemas.openxmlformats.org/drawingml/2006/main">
            <a:r>
              <a:t/>
            </a:r>
          </a:p>
          <a:p xmlns:a="http://schemas.openxmlformats.org/drawingml/2006/main">
            <a:r>
              <a:t>SCRIPT</a:t>
            </a:r>
          </a:p>
          <a:p xmlns:a="http://schemas.openxmlformats.org/drawingml/2006/main">
            <a:r>
              <a:t>The most important challenge was modeling the many-to-many relationship between Courses and Resources. A list of resource IDs inside Courses would violate First Normal Form and become difficult to update. We addressed this with the Course_Resources junction table. It gives every assignment its own row and provides a correct place for is_required, week_number, notes, and assigned_on. This challenge helped us understand how normalization and business requirements work together. We also learned that primary and foreign keys create reliable JOIN paths, views simplify repeated reporting, and indexes support common filters and chronological lookups. These decisions make the database easier to maintain as it grows.</a:t>
            </a:r>
          </a:p>
          <a:p xmlns:a="http://schemas.openxmlformats.org/drawingml/2006/main">
            <a:r>
              <a:t/>
            </a:r>
          </a:p>
          <a:p xmlns:a="http://schemas.openxmlformats.org/drawingml/2006/main">
            <a:r>
              <a:t>[Sources]</a:t>
            </a:r>
          </a:p>
          <a:p xmlns:a="http://schemas.openxmlformats.org/drawingml/2006/main">
            <a:r>
              <a:t>- Database-Project/Documentation/Database_Design_Explanation.md</a:t>
            </a:r>
          </a:p>
          <a:p xmlns:a="http://schemas.openxmlformats.org/drawingml/2006/main">
            <a:r>
              <a:t>- Assignment_5_Individual_Database_Design_Reflection.docx</a:t>
            </a:r>
          </a:p>
          <a:p xmlns:a="http://schemas.openxmlformats.org/drawingml/2006/main">
            <a:r>
              <a:t>- Database-Project/Database/Quarterly_Database_Project_Part_3.sql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Jose Antonio Horta Herrera</a:t>
            </a:r>
          </a:p>
          <a:p xmlns:a="http://schemas.openxmlformats.org/drawingml/2006/main">
            <a:r>
              <a:t>Target time: 0:35–0:45</a:t>
            </a:r>
          </a:p>
          <a:p xmlns:a="http://schemas.openxmlformats.org/drawingml/2006/main">
            <a:r>
              <a:t/>
            </a:r>
          </a:p>
          <a:p xmlns:a="http://schemas.openxmlformats.org/drawingml/2006/main">
            <a:r>
              <a:t>SCRIPT</a:t>
            </a:r>
          </a:p>
          <a:p xmlns:a="http://schemas.openxmlformats.org/drawingml/2006/main">
            <a:r>
              <a:t>In conclusion, the project meets the main success criteria: students can discover course resources, instructors can assign them, administrators can manage availability, and coordinators can analyze usage and feedback. The completed implementation contains six normalized tables, 240 sample records, two reusable views, and six supporting indexes. The GitHub repository contains the EER diagram, documentation, sample data, and SQL files. A future improvement would be a Resource_Copies table for tracking individual physical books and equipment. Thank you for reviewing our Educational Resource Management System.</a:t>
            </a:r>
          </a:p>
          <a:p xmlns:a="http://schemas.openxmlformats.org/drawingml/2006/main">
            <a:r>
              <a:t/>
            </a:r>
          </a:p>
          <a:p xmlns:a="http://schemas.openxmlformats.org/drawingml/2006/main">
            <a:r>
              <a:t>[Sources]</a:t>
            </a:r>
          </a:p>
          <a:p xmlns:a="http://schemas.openxmlformats.org/drawingml/2006/main">
            <a:r>
              <a:t>- Database-Project/README.md</a:t>
            </a:r>
          </a:p>
          <a:p xmlns:a="http://schemas.openxmlformats.org/drawingml/2006/main">
            <a:r>
              <a:t>- Database-Project/Database/Quarterly_Database_Project_Part_3.sql</a:t>
            </a:r>
          </a:p>
          <a:p xmlns:a="http://schemas.openxmlformats.org/drawingml/2006/main">
            <a:r>
              <a:t>- https://github.com/josehorta21/educational-resource-database-project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99dedd7ad849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13437a798446bf" /><Relationship Type="http://schemas.openxmlformats.org/officeDocument/2006/relationships/slideLayout" Target="/ppt/slideLayouts/slideLayout1.xml" Id="R8d2c23dafe6b48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2c23dafe6b48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98e68f54c54829" /><Relationship Type="http://schemas.openxmlformats.org/officeDocument/2006/relationships/notesSlide" Target="/ppt/notesSlides/notesSlide1.xml" Id="R1c8852d4f47540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975c7b2ea54c15" /><Relationship Type="http://schemas.openxmlformats.org/officeDocument/2006/relationships/notesSlide" Target="/ppt/notesSlides/notesSlide2.xml" Id="R94eee19a6cd24c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ec69d27a3d43cb" /><Relationship Type="http://schemas.openxmlformats.org/officeDocument/2006/relationships/image" Target="/ppt/media/image.png" Id="R42f159f1aae245f7" /><Relationship Type="http://schemas.openxmlformats.org/officeDocument/2006/relationships/notesSlide" Target="/ppt/notesSlides/notesSlide3.xml" Id="Rbe9c713ff7f248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376c1c765c45b7" /><Relationship Type="http://schemas.openxmlformats.org/officeDocument/2006/relationships/notesSlide" Target="/ppt/notesSlides/notesSlide4.xml" Id="Rc1a8252f477743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688ffcaaf24753" /><Relationship Type="http://schemas.openxmlformats.org/officeDocument/2006/relationships/notesSlide" Target="/ppt/notesSlides/notesSlide5.xml" Id="Ra397b01caab741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3dfed0e35f4b4c" /><Relationship Type="http://schemas.openxmlformats.org/officeDocument/2006/relationships/notesSlide" Target="/ppt/notesSlides/notesSlide6.xml" Id="R25d5d620195a4f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9c58966c9c43af" /><Relationship Type="http://schemas.openxmlformats.org/officeDocument/2006/relationships/notesSlide" Target="/ppt/notesSlides/notesSlide7.xml" Id="R1b4865a4ff7e4d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a186df10994f48" /><Relationship Type="http://schemas.openxmlformats.org/officeDocument/2006/relationships/notesSlide" Target="/ppt/notesSlides/notesSlide8.xml" Id="Racfb0f1750e241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180580eff84a2c" /><Relationship Type="http://schemas.openxmlformats.org/officeDocument/2006/relationships/notesSlide" Target="/ppt/notesSlides/notesSlide9.xml" Id="R81e3726dd082471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accent">
            <a:extLst xmlns:a="http://schemas.openxmlformats.org/drawingml/2006/main">
              <a:ext uri="{FF2B5EF4-FFF2-40B4-BE49-F238E27FC236}">
                <a16:creationId xmlns:a16="http://schemas.microsoft.com/office/drawing/2014/main" id="{104D614B-7AC2-4D41-813D-89934DBE10BA}"/>
              </a:ext>
            </a:extLst>
          </p:cNvPr>
          <p:cNvSpPr>
            <a:spLocks xmlns:a="http://schemas.openxmlformats.org/drawingml/2006/main" noGrp="1"/>
          </p:cNvSpPr>
          <p:nvPr/>
        </p:nvSpPr>
        <p:spPr>
          <a:xfrm xmlns:a="http://schemas.openxmlformats.org/drawingml/2006/main">
            <a:off x="9620250" y="0"/>
            <a:ext cx="2571750" cy="6858000"/>
          </a:xfrm>
          <a:prstGeom xmlns:a="http://schemas.openxmlformats.org/drawingml/2006/main" prst="rect">
            <a:avLst/>
          </a:prstGeom>
          <a:solidFill xmlns:a="http://schemas.openxmlformats.org/drawingml/2006/main">
            <a:srgbClr val="15384E"/>
          </a:solidFill>
          <a:ln xmlns:a="http://schemas.openxmlformats.org/drawingml/2006/main" w="0">
            <a:noFill/>
            <a:prstDash val="solid"/>
          </a:ln>
        </p:spPr>
      </p:sp>
      <p:sp>
        <p:nvSpPr>
          <p:cNvPr id="2" name="cover-blue-line">
            <a:extLst xmlns:a="http://schemas.openxmlformats.org/drawingml/2006/main">
              <a:ext uri="{FF2B5EF4-FFF2-40B4-BE49-F238E27FC236}">
                <a16:creationId xmlns:a16="http://schemas.microsoft.com/office/drawing/2014/main" id="{48602C0F-8727-4960-A450-8758764EF2CC}"/>
              </a:ext>
            </a:extLst>
          </p:cNvPr>
          <p:cNvSpPr>
            <a:spLocks xmlns:a="http://schemas.openxmlformats.org/drawingml/2006/main" noGrp="1"/>
          </p:cNvSpPr>
          <p:nvPr/>
        </p:nvSpPr>
        <p:spPr>
          <a:xfrm xmlns:a="http://schemas.openxmlformats.org/drawingml/2006/main">
            <a:off x="9620250" y="0"/>
            <a:ext cx="133350" cy="6858000"/>
          </a:xfrm>
          <a:prstGeom xmlns:a="http://schemas.openxmlformats.org/drawingml/2006/main" prst="rect">
            <a:avLst/>
          </a:prstGeom>
          <a:solidFill xmlns:a="http://schemas.openxmlformats.org/drawingml/2006/main">
            <a:srgbClr val="2F78F6"/>
          </a:solidFill>
          <a:ln xmlns:a="http://schemas.openxmlformats.org/drawingml/2006/main" w="0">
            <a:noFill/>
            <a:prstDash val="solid"/>
          </a:ln>
        </p:spPr>
      </p:sp>
      <p:sp>
        <p:nvSpPr>
          <p:cNvPr id="3" name="cover-course">
            <a:extLst xmlns:a="http://schemas.openxmlformats.org/drawingml/2006/main">
              <a:ext uri="{FF2B5EF4-FFF2-40B4-BE49-F238E27FC236}">
                <a16:creationId xmlns:a16="http://schemas.microsoft.com/office/drawing/2014/main" id="{524CD4F4-58BC-40FF-ACB3-94D8B2118586}"/>
              </a:ext>
            </a:extLst>
          </p:cNvPr>
          <p:cNvSpPr>
            <a:spLocks xmlns:a="http://schemas.openxmlformats.org/drawingml/2006/main" noGrp="1"/>
          </p:cNvSpPr>
          <p:nvPr/>
        </p:nvSpPr>
        <p:spPr>
          <a:xfrm xmlns:a="http://schemas.openxmlformats.org/drawingml/2006/main">
            <a:off x="552450" y="4572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2E8F91"/>
                </a:solidFill>
                <a:latin typeface="Arial"/>
                <a:ea typeface="Arial"/>
                <a:cs typeface="Arial"/>
              </a:defRPr>
            </a:pPr>
            <a:r>
              <a:rPr sz="1350" b="1">
                <a:solidFill>
                  <a:srgbClr val="2E8F91"/>
                </a:solidFill>
                <a:latin typeface="Arial"/>
                <a:ea typeface="Arial"/>
                <a:cs typeface="Arial"/>
              </a:rPr>
              <a:t>QUARTERLY DATABASE PROJECT</a:t>
            </a:r>
          </a:p>
        </p:txBody>
      </p:sp>
      <p:sp>
        <p:nvSpPr>
          <p:cNvPr id="4" name="cover-title">
            <a:extLst xmlns:a="http://schemas.openxmlformats.org/drawingml/2006/main">
              <a:ext uri="{FF2B5EF4-FFF2-40B4-BE49-F238E27FC236}">
                <a16:creationId xmlns:a16="http://schemas.microsoft.com/office/drawing/2014/main" id="{95842D75-B5FD-4FC0-A03C-407D0FBB1611}"/>
              </a:ext>
            </a:extLst>
          </p:cNvPr>
          <p:cNvSpPr>
            <a:spLocks xmlns:a="http://schemas.openxmlformats.org/drawingml/2006/main" noGrp="1"/>
          </p:cNvSpPr>
          <p:nvPr/>
        </p:nvSpPr>
        <p:spPr>
          <a:xfrm xmlns:a="http://schemas.openxmlformats.org/drawingml/2006/main">
            <a:off x="552450" y="2133600"/>
            <a:ext cx="82867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650" b="1">
                <a:solidFill>
                  <a:srgbClr val="0E1720"/>
                </a:solidFill>
                <a:latin typeface="Arial"/>
                <a:ea typeface="Arial"/>
                <a:cs typeface="Arial"/>
              </a:defRPr>
            </a:pPr>
            <a:r>
              <a:rPr sz="4650" b="1">
                <a:solidFill>
                  <a:srgbClr val="0E1720"/>
                </a:solidFill>
                <a:latin typeface="Arial"/>
                <a:ea typeface="Arial"/>
                <a:cs typeface="Arial"/>
              </a:rPr>
              <a:t>Educational Resource</a:t>
            </a:r>
          </a:p>
          <a:p xmlns:a="http://schemas.openxmlformats.org/drawingml/2006/main">
            <a:pPr algn="l">
              <a:defRPr sz="4650" b="1">
                <a:solidFill>
                  <a:srgbClr val="0E1720"/>
                </a:solidFill>
                <a:latin typeface="Arial"/>
                <a:ea typeface="Arial"/>
                <a:cs typeface="Arial"/>
              </a:defRPr>
            </a:pPr>
            <a:r>
              <a:rPr sz="4650" b="1">
                <a:solidFill>
                  <a:srgbClr val="0E1720"/>
                </a:solidFill>
                <a:latin typeface="Arial"/>
                <a:ea typeface="Arial"/>
                <a:cs typeface="Arial"/>
              </a:rPr>
              <a:t>Management System</a:t>
            </a:r>
          </a:p>
        </p:txBody>
      </p:sp>
      <p:sp>
        <p:nvSpPr>
          <p:cNvPr id="5" name="cover-subtitle">
            <a:extLst xmlns:a="http://schemas.openxmlformats.org/drawingml/2006/main">
              <a:ext uri="{FF2B5EF4-FFF2-40B4-BE49-F238E27FC236}">
                <a16:creationId xmlns:a16="http://schemas.microsoft.com/office/drawing/2014/main" id="{59EBFD2E-E60F-4A6A-83FC-E9E98E9F79A3}"/>
              </a:ext>
            </a:extLst>
          </p:cNvPr>
          <p:cNvSpPr>
            <a:spLocks xmlns:a="http://schemas.openxmlformats.org/drawingml/2006/main" noGrp="1"/>
          </p:cNvSpPr>
          <p:nvPr/>
        </p:nvSpPr>
        <p:spPr>
          <a:xfrm xmlns:a="http://schemas.openxmlformats.org/drawingml/2006/main">
            <a:off x="571500" y="43053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436"/>
          </a:bodyPr>
          <a:lstStyle xmlns:a="http://schemas.openxmlformats.org/drawingml/2006/main"/>
          <a:p xmlns:a="http://schemas.openxmlformats.org/drawingml/2006/main">
            <a:pPr algn="l">
              <a:defRPr sz="1950" b="0">
                <a:solidFill>
                  <a:srgbClr val="5F6F7C"/>
                </a:solidFill>
                <a:latin typeface="Arial"/>
                <a:ea typeface="Arial"/>
                <a:cs typeface="Arial"/>
              </a:defRPr>
            </a:pPr>
            <a:r>
              <a:rPr sz="1950" b="0">
                <a:solidFill>
                  <a:srgbClr val="5F6F7C"/>
                </a:solidFill>
                <a:latin typeface="Arial"/>
                <a:ea typeface="Arial"/>
                <a:cs typeface="Arial"/>
              </a:rPr>
              <a:t>Final database demonstration</a:t>
            </a:r>
          </a:p>
        </p:txBody>
      </p:sp>
      <p:sp>
        <p:nvSpPr>
          <p:cNvPr id="6" name="cover-team">
            <a:extLst xmlns:a="http://schemas.openxmlformats.org/drawingml/2006/main">
              <a:ext uri="{FF2B5EF4-FFF2-40B4-BE49-F238E27FC236}">
                <a16:creationId xmlns:a16="http://schemas.microsoft.com/office/drawing/2014/main" id="{DCF1F596-F6C9-4764-95B2-FB0D1F7721B6}"/>
              </a:ext>
            </a:extLst>
          </p:cNvPr>
          <p:cNvSpPr>
            <a:spLocks xmlns:a="http://schemas.openxmlformats.org/drawingml/2006/main" noGrp="1"/>
          </p:cNvSpPr>
          <p:nvPr/>
        </p:nvSpPr>
        <p:spPr>
          <a:xfrm xmlns:a="http://schemas.openxmlformats.org/drawingml/2006/main">
            <a:off x="571500" y="5905500"/>
            <a:ext cx="790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0E1720"/>
                </a:solidFill>
                <a:latin typeface="Arial"/>
                <a:ea typeface="Arial"/>
                <a:cs typeface="Arial"/>
              </a:defRPr>
            </a:pPr>
            <a:r>
              <a:rPr sz="1350" b="0">
                <a:solidFill>
                  <a:srgbClr val="0E1720"/>
                </a:solidFill>
                <a:latin typeface="Arial"/>
                <a:ea typeface="Arial"/>
                <a:cs typeface="Arial"/>
              </a:rPr>
              <a:t>Anudari Undrakh  •  Jose Antonio Horta Herrera</a:t>
            </a:r>
          </a:p>
        </p:txBody>
      </p:sp>
      <p:sp>
        <p:nvSpPr>
          <p:cNvPr id="7" name="cover-side-label">
            <a:extLst xmlns:a="http://schemas.openxmlformats.org/drawingml/2006/main">
              <a:ext uri="{FF2B5EF4-FFF2-40B4-BE49-F238E27FC236}">
                <a16:creationId xmlns:a16="http://schemas.microsoft.com/office/drawing/2014/main" id="{00C38B13-3FAB-40D8-B940-111C30C24F02}"/>
              </a:ext>
            </a:extLst>
          </p:cNvPr>
          <p:cNvSpPr>
            <a:spLocks xmlns:a="http://schemas.openxmlformats.org/drawingml/2006/main" noGrp="1"/>
          </p:cNvSpPr>
          <p:nvPr/>
        </p:nvSpPr>
        <p:spPr>
          <a:xfrm xmlns:a="http://schemas.openxmlformats.org/drawingml/2006/main">
            <a:off x="10039350" y="685800"/>
            <a:ext cx="1619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650" b="1">
                <a:solidFill>
                  <a:srgbClr val="FFFFFF"/>
                </a:solidFill>
                <a:latin typeface="Arial"/>
                <a:ea typeface="Arial"/>
                <a:cs typeface="Arial"/>
              </a:defRPr>
            </a:pPr>
            <a:r>
              <a:rPr sz="1650" b="1">
                <a:solidFill>
                  <a:srgbClr val="FFFFFF"/>
                </a:solidFill>
                <a:latin typeface="Arial"/>
                <a:ea typeface="Arial"/>
                <a:cs typeface="Arial"/>
              </a:rPr>
              <a:t>MYSQL 8.0</a:t>
            </a:r>
          </a:p>
          <a:p xmlns:a="http://schemas.openxmlformats.org/drawingml/2006/main">
            <a:pPr algn="r">
              <a:defRPr sz="1650" b="1">
                <a:solidFill>
                  <a:srgbClr val="FFFFFF"/>
                </a:solidFill>
                <a:latin typeface="Arial"/>
                <a:ea typeface="Arial"/>
                <a:cs typeface="Arial"/>
              </a:defRPr>
            </a:pPr>
            <a:r>
              <a:rPr sz="1650" b="1">
                <a:solidFill>
                  <a:srgbClr val="FFFFFF"/>
                </a:solidFill>
                <a:latin typeface="Arial"/>
                <a:ea typeface="Arial"/>
                <a:cs typeface="Arial"/>
              </a:rPr>
              <a:t>FINAL DEMO</a:t>
            </a:r>
          </a:p>
        </p:txBody>
      </p:sp>
      <p:sp>
        <p:nvSpPr>
          <p:cNvPr id="8" name="cover-side-metric">
            <a:extLst xmlns:a="http://schemas.openxmlformats.org/drawingml/2006/main">
              <a:ext uri="{FF2B5EF4-FFF2-40B4-BE49-F238E27FC236}">
                <a16:creationId xmlns:a16="http://schemas.microsoft.com/office/drawing/2014/main" id="{F1979BB6-C48C-4430-8252-1498A6EB74C7}"/>
              </a:ext>
            </a:extLst>
          </p:cNvPr>
          <p:cNvSpPr>
            <a:spLocks xmlns:a="http://schemas.openxmlformats.org/drawingml/2006/main" noGrp="1"/>
          </p:cNvSpPr>
          <p:nvPr/>
        </p:nvSpPr>
        <p:spPr>
          <a:xfrm xmlns:a="http://schemas.openxmlformats.org/drawingml/2006/main">
            <a:off x="10039350" y="4333875"/>
            <a:ext cx="1619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r">
              <a:defRPr sz="2025" b="1">
                <a:solidFill>
                  <a:srgbClr val="9BDCF1"/>
                </a:solidFill>
                <a:latin typeface="Arial"/>
                <a:ea typeface="Arial"/>
                <a:cs typeface="Arial"/>
              </a:defRPr>
            </a:pPr>
            <a:r>
              <a:rPr sz="2025" b="1">
                <a:solidFill>
                  <a:srgbClr val="9BDCF1"/>
                </a:solidFill>
                <a:latin typeface="Arial"/>
                <a:ea typeface="Arial"/>
                <a:cs typeface="Arial"/>
              </a:rPr>
              <a:t>6</a:t>
            </a:r>
          </a:p>
          <a:p xmlns:a="http://schemas.openxmlformats.org/drawingml/2006/main">
            <a:pPr algn="r">
              <a:defRPr sz="2025" b="1">
                <a:solidFill>
                  <a:srgbClr val="9BDCF1"/>
                </a:solidFill>
                <a:latin typeface="Arial"/>
                <a:ea typeface="Arial"/>
                <a:cs typeface="Arial"/>
              </a:defRPr>
            </a:pPr>
            <a:r>
              <a:rPr sz="2025" b="1">
                <a:solidFill>
                  <a:srgbClr val="9BDCF1"/>
                </a:solidFill>
                <a:latin typeface="Arial"/>
                <a:ea typeface="Arial"/>
                <a:cs typeface="Arial"/>
              </a:rPr>
              <a:t>normalized</a:t>
            </a:r>
          </a:p>
          <a:p xmlns:a="http://schemas.openxmlformats.org/drawingml/2006/main">
            <a:pPr algn="r">
              <a:defRPr sz="2025" b="1">
                <a:solidFill>
                  <a:srgbClr val="9BDCF1"/>
                </a:solidFill>
                <a:latin typeface="Arial"/>
                <a:ea typeface="Arial"/>
                <a:cs typeface="Arial"/>
              </a:defRPr>
            </a:pPr>
            <a:r>
              <a:rPr sz="2025" b="1">
                <a:solidFill>
                  <a:srgbClr val="9BDCF1"/>
                </a:solidFill>
                <a:latin typeface="Arial"/>
                <a:ea typeface="Arial"/>
                <a:cs typeface="Arial"/>
              </a:rPr>
              <a:t>tables</a:t>
            </a:r>
          </a:p>
        </p:txBody>
      </p:sp>
    </p:spTree>
    <p:extLst>
      <p:ext uri="{BB962C8B-B14F-4D97-AF65-F5344CB8AC3E}">
        <p14:creationId xmlns:p14="http://schemas.microsoft.com/office/powerpoint/2010/main" val="9859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eyebrow-2">
            <a:extLst xmlns:a="http://schemas.openxmlformats.org/drawingml/2006/main">
              <a:ext uri="{FF2B5EF4-FFF2-40B4-BE49-F238E27FC236}">
                <a16:creationId xmlns:a16="http://schemas.microsoft.com/office/drawing/2014/main" id="{04A8381C-73C9-4E9E-92B7-72275269548D}"/>
              </a:ext>
            </a:extLst>
          </p:cNvPr>
          <p:cNvSpPr>
            <a:spLocks xmlns:a="http://schemas.openxmlformats.org/drawingml/2006/main" noGrp="1"/>
          </p:cNvSpPr>
          <p:nvPr/>
        </p:nvSpPr>
        <p:spPr>
          <a:xfrm xmlns:a="http://schemas.openxmlformats.org/drawingml/2006/main">
            <a:off x="51435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2E8F91"/>
                </a:solidFill>
                <a:latin typeface="Arial"/>
                <a:ea typeface="Arial"/>
                <a:cs typeface="Arial"/>
              </a:defRPr>
            </a:pPr>
            <a:r>
              <a:rPr sz="975" b="1">
                <a:solidFill>
                  <a:srgbClr val="2E8F91"/>
                </a:solidFill>
                <a:latin typeface="Arial"/>
                <a:ea typeface="Arial"/>
                <a:cs typeface="Arial"/>
              </a:rPr>
              <a:t>EDUCATIONAL RESOURCE MANAGEMENT SYSTEM</a:t>
            </a:r>
          </a:p>
        </p:txBody>
      </p:sp>
      <p:sp>
        <p:nvSpPr>
          <p:cNvPr id="2" name="title-2">
            <a:extLst xmlns:a="http://schemas.openxmlformats.org/drawingml/2006/main">
              <a:ext uri="{FF2B5EF4-FFF2-40B4-BE49-F238E27FC236}">
                <a16:creationId xmlns:a16="http://schemas.microsoft.com/office/drawing/2014/main" id="{307437E7-A8D7-49D8-B06C-5EA8537A827B}"/>
              </a:ext>
            </a:extLst>
          </p:cNvPr>
          <p:cNvSpPr>
            <a:spLocks xmlns:a="http://schemas.openxmlformats.org/drawingml/2006/main" noGrp="1"/>
          </p:cNvSpPr>
          <p:nvPr/>
        </p:nvSpPr>
        <p:spPr>
          <a:xfrm xmlns:a="http://schemas.openxmlformats.org/drawingml/2006/main">
            <a:off x="514350" y="571500"/>
            <a:ext cx="1116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0E1720"/>
                </a:solidFill>
                <a:latin typeface="Arial"/>
                <a:ea typeface="Arial"/>
                <a:cs typeface="Arial"/>
              </a:defRPr>
            </a:pPr>
            <a:r>
              <a:rPr sz="2850" b="1">
                <a:solidFill>
                  <a:srgbClr val="0E1720"/>
                </a:solidFill>
                <a:latin typeface="Arial"/>
                <a:ea typeface="Arial"/>
                <a:cs typeface="Arial"/>
              </a:rPr>
              <a:t>One database replaces scattered resource records</a:t>
            </a:r>
          </a:p>
        </p:txBody>
      </p:sp>
      <p:sp>
        <p:nvSpPr>
          <p:cNvPr id="3" name="rule-54-128">
            <a:extLst xmlns:a="http://schemas.openxmlformats.org/drawingml/2006/main">
              <a:ext uri="{FF2B5EF4-FFF2-40B4-BE49-F238E27FC236}">
                <a16:creationId xmlns:a16="http://schemas.microsoft.com/office/drawing/2014/main" id="{76EB3DEB-071B-4E6D-A4E5-EB5A25E341E9}"/>
              </a:ext>
            </a:extLst>
          </p:cNvPr>
          <p:cNvSpPr>
            <a:spLocks xmlns:a="http://schemas.openxmlformats.org/drawingml/2006/main" noGrp="1"/>
          </p:cNvSpPr>
          <p:nvPr/>
        </p:nvSpPr>
        <p:spPr>
          <a:xfrm xmlns:a="http://schemas.openxmlformats.org/drawingml/2006/main">
            <a:off x="514350" y="1219200"/>
            <a:ext cx="111633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4" name="presenter-2">
            <a:extLst xmlns:a="http://schemas.openxmlformats.org/drawingml/2006/main">
              <a:ext uri="{FF2B5EF4-FFF2-40B4-BE49-F238E27FC236}">
                <a16:creationId xmlns:a16="http://schemas.microsoft.com/office/drawing/2014/main" id="{FF074B4F-18F2-4F70-8914-55FEF500B08E}"/>
              </a:ext>
            </a:extLst>
          </p:cNvPr>
          <p:cNvSpPr>
            <a:spLocks xmlns:a="http://schemas.openxmlformats.org/drawingml/2006/main" noGrp="1"/>
          </p:cNvSpPr>
          <p:nvPr/>
        </p:nvSpPr>
        <p:spPr>
          <a:xfrm xmlns:a="http://schemas.openxmlformats.org/drawingml/2006/main">
            <a:off x="51435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F6F7C"/>
                </a:solidFill>
                <a:latin typeface="Arial"/>
                <a:ea typeface="Arial"/>
                <a:cs typeface="Arial"/>
              </a:defRPr>
            </a:pPr>
            <a:r>
              <a:rPr sz="900" b="1">
                <a:solidFill>
                  <a:srgbClr val="5F6F7C"/>
                </a:solidFill>
                <a:latin typeface="Arial"/>
                <a:ea typeface="Arial"/>
                <a:cs typeface="Arial"/>
              </a:rPr>
              <a:t>ANUDARI UNDRAKH</a:t>
            </a:r>
          </a:p>
        </p:txBody>
      </p:sp>
      <p:sp>
        <p:nvSpPr>
          <p:cNvPr id="5" name="slide-number-2">
            <a:extLst xmlns:a="http://schemas.openxmlformats.org/drawingml/2006/main">
              <a:ext uri="{FF2B5EF4-FFF2-40B4-BE49-F238E27FC236}">
                <a16:creationId xmlns:a16="http://schemas.microsoft.com/office/drawing/2014/main" id="{CD732679-A1AB-4300-A46B-708DF4E9720E}"/>
              </a:ext>
            </a:extLst>
          </p:cNvPr>
          <p:cNvSpPr>
            <a:spLocks xmlns:a="http://schemas.openxmlformats.org/drawingml/2006/main" noGrp="1"/>
          </p:cNvSpPr>
          <p:nvPr/>
        </p:nvSpPr>
        <p:spPr>
          <a:xfrm xmlns:a="http://schemas.openxmlformats.org/drawingml/2006/main">
            <a:off x="1123950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F6F7C"/>
                </a:solidFill>
                <a:latin typeface="Arial"/>
                <a:ea typeface="Arial"/>
                <a:cs typeface="Arial"/>
              </a:defRPr>
            </a:pPr>
            <a:r>
              <a:rPr sz="900" b="0">
                <a:solidFill>
                  <a:srgbClr val="5F6F7C"/>
                </a:solidFill>
                <a:latin typeface="Arial"/>
                <a:ea typeface="Arial"/>
                <a:cs typeface="Arial"/>
              </a:rPr>
              <a:t>02</a:t>
            </a:r>
          </a:p>
        </p:txBody>
      </p:sp>
      <p:sp>
        <p:nvSpPr>
          <p:cNvPr id="6" name="problem-label">
            <a:extLst xmlns:a="http://schemas.openxmlformats.org/drawingml/2006/main">
              <a:ext uri="{FF2B5EF4-FFF2-40B4-BE49-F238E27FC236}">
                <a16:creationId xmlns:a16="http://schemas.microsoft.com/office/drawing/2014/main" id="{62A3C9AF-09AA-45E2-9589-207DC3EA539B}"/>
              </a:ext>
            </a:extLst>
          </p:cNvPr>
          <p:cNvSpPr>
            <a:spLocks xmlns:a="http://schemas.openxmlformats.org/drawingml/2006/main" noGrp="1"/>
          </p:cNvSpPr>
          <p:nvPr/>
        </p:nvSpPr>
        <p:spPr>
          <a:xfrm xmlns:a="http://schemas.openxmlformats.org/drawingml/2006/main">
            <a:off x="552450" y="1543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E68000"/>
                </a:solidFill>
                <a:latin typeface="Arial"/>
                <a:ea typeface="Arial"/>
                <a:cs typeface="Arial"/>
              </a:defRPr>
            </a:pPr>
            <a:r>
              <a:rPr sz="1125" b="1">
                <a:solidFill>
                  <a:srgbClr val="E68000"/>
                </a:solidFill>
                <a:latin typeface="Arial"/>
                <a:ea typeface="Arial"/>
                <a:cs typeface="Arial"/>
              </a:rPr>
              <a:t>THE PROBLEM</a:t>
            </a:r>
          </a:p>
        </p:txBody>
      </p:sp>
      <p:sp>
        <p:nvSpPr>
          <p:cNvPr id="7" name="problem-copy">
            <a:extLst xmlns:a="http://schemas.openxmlformats.org/drawingml/2006/main">
              <a:ext uri="{FF2B5EF4-FFF2-40B4-BE49-F238E27FC236}">
                <a16:creationId xmlns:a16="http://schemas.microsoft.com/office/drawing/2014/main" id="{A4AF94AA-F5E3-4E62-9039-9380418878BB}"/>
              </a:ext>
            </a:extLst>
          </p:cNvPr>
          <p:cNvSpPr>
            <a:spLocks xmlns:a="http://schemas.openxmlformats.org/drawingml/2006/main" noGrp="1"/>
          </p:cNvSpPr>
          <p:nvPr/>
        </p:nvSpPr>
        <p:spPr>
          <a:xfrm xmlns:a="http://schemas.openxmlformats.org/drawingml/2006/main">
            <a:off x="552450" y="1943100"/>
            <a:ext cx="4762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33"/>
          </a:bodyPr>
          <a:lstStyle xmlns:a="http://schemas.openxmlformats.org/drawingml/2006/main"/>
          <a:p xmlns:a="http://schemas.openxmlformats.org/drawingml/2006/main">
            <a:pPr algn="l">
              <a:defRPr sz="1875" b="1">
                <a:solidFill>
                  <a:srgbClr val="0E1720"/>
                </a:solidFill>
                <a:latin typeface="Arial"/>
                <a:ea typeface="Arial"/>
                <a:cs typeface="Arial"/>
              </a:defRPr>
            </a:pPr>
            <a:r>
              <a:rPr sz="1875" b="1">
                <a:solidFill>
                  <a:srgbClr val="0E1720"/>
                </a:solidFill>
                <a:latin typeface="Arial"/>
                <a:ea typeface="Arial"/>
                <a:cs typeface="Arial"/>
              </a:rPr>
              <a:t>Textbooks, e-books, videos, lab materials, software, and assessments can be spread across spreadsheets, email, websites, folders, and paper records.</a:t>
            </a:r>
          </a:p>
        </p:txBody>
      </p:sp>
      <p:sp>
        <p:nvSpPr>
          <p:cNvPr id="8" name="outcome-panel">
            <a:extLst xmlns:a="http://schemas.openxmlformats.org/drawingml/2006/main">
              <a:ext uri="{FF2B5EF4-FFF2-40B4-BE49-F238E27FC236}">
                <a16:creationId xmlns:a16="http://schemas.microsoft.com/office/drawing/2014/main" id="{6B982749-7EEA-48BC-85D2-E18CFC919251}"/>
              </a:ext>
            </a:extLst>
          </p:cNvPr>
          <p:cNvSpPr>
            <a:spLocks xmlns:a="http://schemas.openxmlformats.org/drawingml/2006/main" noGrp="1"/>
          </p:cNvSpPr>
          <p:nvPr/>
        </p:nvSpPr>
        <p:spPr>
          <a:xfrm xmlns:a="http://schemas.openxmlformats.org/drawingml/2006/main">
            <a:off x="552450" y="3752850"/>
            <a:ext cx="4762500" cy="1847850"/>
          </a:xfrm>
          <a:prstGeom xmlns:a="http://schemas.openxmlformats.org/drawingml/2006/main" prst="rect">
            <a:avLst/>
          </a:prstGeom>
          <a:solidFill xmlns:a="http://schemas.openxmlformats.org/drawingml/2006/main">
            <a:srgbClr val="F1F5F7"/>
          </a:solidFill>
          <a:ln xmlns:a="http://schemas.openxmlformats.org/drawingml/2006/main" w="0">
            <a:noFill/>
            <a:prstDash val="solid"/>
          </a:ln>
        </p:spPr>
      </p:sp>
      <p:sp>
        <p:nvSpPr>
          <p:cNvPr id="9" name="outcome-label">
            <a:extLst xmlns:a="http://schemas.openxmlformats.org/drawingml/2006/main">
              <a:ext uri="{FF2B5EF4-FFF2-40B4-BE49-F238E27FC236}">
                <a16:creationId xmlns:a16="http://schemas.microsoft.com/office/drawing/2014/main" id="{BE2A1DEA-5069-43FD-9A5C-D607A31D0815}"/>
              </a:ext>
            </a:extLst>
          </p:cNvPr>
          <p:cNvSpPr>
            <a:spLocks xmlns:a="http://schemas.openxmlformats.org/drawingml/2006/main" noGrp="1"/>
          </p:cNvSpPr>
          <p:nvPr/>
        </p:nvSpPr>
        <p:spPr>
          <a:xfrm xmlns:a="http://schemas.openxmlformats.org/drawingml/2006/main">
            <a:off x="800100" y="4000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E8F91"/>
                </a:solidFill>
                <a:latin typeface="Arial"/>
                <a:ea typeface="Arial"/>
                <a:cs typeface="Arial"/>
              </a:defRPr>
            </a:pPr>
            <a:r>
              <a:rPr sz="1125" b="1">
                <a:solidFill>
                  <a:srgbClr val="2E8F91"/>
                </a:solidFill>
                <a:latin typeface="Arial"/>
                <a:ea typeface="Arial"/>
                <a:cs typeface="Arial"/>
              </a:rPr>
              <a:t>DATABASE OUTCOME</a:t>
            </a:r>
          </a:p>
        </p:txBody>
      </p:sp>
      <p:sp>
        <p:nvSpPr>
          <p:cNvPr id="10" name="outcome-copy">
            <a:extLst xmlns:a="http://schemas.openxmlformats.org/drawingml/2006/main">
              <a:ext uri="{FF2B5EF4-FFF2-40B4-BE49-F238E27FC236}">
                <a16:creationId xmlns:a16="http://schemas.microsoft.com/office/drawing/2014/main" id="{5B6C07DB-F0AB-46E3-8C4A-287FCC0A8161}"/>
              </a:ext>
            </a:extLst>
          </p:cNvPr>
          <p:cNvSpPr>
            <a:spLocks xmlns:a="http://schemas.openxmlformats.org/drawingml/2006/main" noGrp="1"/>
          </p:cNvSpPr>
          <p:nvPr/>
        </p:nvSpPr>
        <p:spPr>
          <a:xfrm xmlns:a="http://schemas.openxmlformats.org/drawingml/2006/main">
            <a:off x="800100" y="4419600"/>
            <a:ext cx="419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970"/>
          </a:bodyPr>
          <a:lstStyle xmlns:a="http://schemas.openxmlformats.org/drawingml/2006/main"/>
          <a:p xmlns:a="http://schemas.openxmlformats.org/drawingml/2006/main">
            <a:pPr algn="l">
              <a:defRPr sz="1650" b="0">
                <a:solidFill>
                  <a:srgbClr val="0E1720"/>
                </a:solidFill>
                <a:latin typeface="Arial"/>
                <a:ea typeface="Arial"/>
                <a:cs typeface="Arial"/>
              </a:defRPr>
            </a:pPr>
            <a:r>
              <a:rPr sz="1650" b="0">
                <a:solidFill>
                  <a:srgbClr val="0E1720"/>
                </a:solidFill>
                <a:latin typeface="Arial"/>
                <a:ea typeface="Arial"/>
                <a:cs typeface="Arial"/>
              </a:rPr>
              <a:t>A centralized, searchable source that connects every learning resource to its course, category, creator, availability, and usage history.</a:t>
            </a:r>
          </a:p>
        </p:txBody>
      </p:sp>
      <p:sp>
        <p:nvSpPr>
          <p:cNvPr id="11" name="users-label">
            <a:extLst xmlns:a="http://schemas.openxmlformats.org/drawingml/2006/main">
              <a:ext uri="{FF2B5EF4-FFF2-40B4-BE49-F238E27FC236}">
                <a16:creationId xmlns:a16="http://schemas.microsoft.com/office/drawing/2014/main" id="{F09A35B4-2FCB-4A78-9451-11AD08D0BC9D}"/>
              </a:ext>
            </a:extLst>
          </p:cNvPr>
          <p:cNvSpPr>
            <a:spLocks xmlns:a="http://schemas.openxmlformats.org/drawingml/2006/main" noGrp="1"/>
          </p:cNvSpPr>
          <p:nvPr/>
        </p:nvSpPr>
        <p:spPr>
          <a:xfrm xmlns:a="http://schemas.openxmlformats.org/drawingml/2006/main">
            <a:off x="6324600" y="15430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2F78F6"/>
                </a:solidFill>
                <a:latin typeface="Arial"/>
                <a:ea typeface="Arial"/>
                <a:cs typeface="Arial"/>
              </a:defRPr>
            </a:pPr>
            <a:r>
              <a:rPr sz="1125" b="1">
                <a:solidFill>
                  <a:srgbClr val="2F78F6"/>
                </a:solidFill>
                <a:latin typeface="Arial"/>
                <a:ea typeface="Arial"/>
                <a:cs typeface="Arial"/>
              </a:rPr>
              <a:t>WHO USES IT</a:t>
            </a:r>
          </a:p>
        </p:txBody>
      </p:sp>
      <p:sp>
        <p:nvSpPr>
          <p:cNvPr id="12" name="role-0">
            <a:extLst xmlns:a="http://schemas.openxmlformats.org/drawingml/2006/main">
              <a:ext uri="{FF2B5EF4-FFF2-40B4-BE49-F238E27FC236}">
                <a16:creationId xmlns:a16="http://schemas.microsoft.com/office/drawing/2014/main" id="{3AF9A320-BA5E-420D-8E8E-670F0F936025}"/>
              </a:ext>
            </a:extLst>
          </p:cNvPr>
          <p:cNvSpPr>
            <a:spLocks xmlns:a="http://schemas.openxmlformats.org/drawingml/2006/main" noGrp="1"/>
          </p:cNvSpPr>
          <p:nvPr/>
        </p:nvSpPr>
        <p:spPr>
          <a:xfrm xmlns:a="http://schemas.openxmlformats.org/drawingml/2006/main">
            <a:off x="6324600" y="1952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0E1720"/>
                </a:solidFill>
                <a:latin typeface="Arial"/>
                <a:ea typeface="Arial"/>
                <a:cs typeface="Arial"/>
              </a:defRPr>
            </a:pPr>
            <a:r>
              <a:rPr sz="1650" b="1">
                <a:solidFill>
                  <a:srgbClr val="0E1720"/>
                </a:solidFill>
                <a:latin typeface="Arial"/>
                <a:ea typeface="Arial"/>
                <a:cs typeface="Arial"/>
              </a:rPr>
              <a:t>Students</a:t>
            </a:r>
          </a:p>
        </p:txBody>
      </p:sp>
      <p:sp>
        <p:nvSpPr>
          <p:cNvPr id="13" name="purpose-0">
            <a:extLst xmlns:a="http://schemas.openxmlformats.org/drawingml/2006/main">
              <a:ext uri="{FF2B5EF4-FFF2-40B4-BE49-F238E27FC236}">
                <a16:creationId xmlns:a16="http://schemas.microsoft.com/office/drawing/2014/main" id="{EB3E66DF-FF4D-4E5D-917B-5AD859AF45FF}"/>
              </a:ext>
            </a:extLst>
          </p:cNvPr>
          <p:cNvSpPr>
            <a:spLocks xmlns:a="http://schemas.openxmlformats.org/drawingml/2006/main" noGrp="1"/>
          </p:cNvSpPr>
          <p:nvPr/>
        </p:nvSpPr>
        <p:spPr>
          <a:xfrm xmlns:a="http://schemas.openxmlformats.org/drawingml/2006/main">
            <a:off x="8724900" y="19621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F7C"/>
                </a:solidFill>
                <a:latin typeface="Arial"/>
                <a:ea typeface="Arial"/>
                <a:cs typeface="Arial"/>
              </a:defRPr>
            </a:pPr>
            <a:r>
              <a:rPr sz="1350" b="0">
                <a:solidFill>
                  <a:srgbClr val="5F6F7C"/>
                </a:solidFill>
                <a:latin typeface="Arial"/>
                <a:ea typeface="Arial"/>
                <a:cs typeface="Arial"/>
              </a:rPr>
              <a:t>Find required and available materials</a:t>
            </a:r>
          </a:p>
        </p:txBody>
      </p:sp>
      <p:sp>
        <p:nvSpPr>
          <p:cNvPr id="14" name="rule-664-275">
            <a:extLst xmlns:a="http://schemas.openxmlformats.org/drawingml/2006/main">
              <a:ext uri="{FF2B5EF4-FFF2-40B4-BE49-F238E27FC236}">
                <a16:creationId xmlns:a16="http://schemas.microsoft.com/office/drawing/2014/main" id="{88CD8A09-011D-44E3-8BF6-2B0EE1D01A52}"/>
              </a:ext>
            </a:extLst>
          </p:cNvPr>
          <p:cNvSpPr>
            <a:spLocks xmlns:a="http://schemas.openxmlformats.org/drawingml/2006/main" noGrp="1"/>
          </p:cNvSpPr>
          <p:nvPr/>
        </p:nvSpPr>
        <p:spPr>
          <a:xfrm xmlns:a="http://schemas.openxmlformats.org/drawingml/2006/main">
            <a:off x="6324600" y="2619375"/>
            <a:ext cx="52578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15" name="role-1">
            <a:extLst xmlns:a="http://schemas.openxmlformats.org/drawingml/2006/main">
              <a:ext uri="{FF2B5EF4-FFF2-40B4-BE49-F238E27FC236}">
                <a16:creationId xmlns:a16="http://schemas.microsoft.com/office/drawing/2014/main" id="{78C72758-6A10-4AD9-8F41-4A263919E836}"/>
              </a:ext>
            </a:extLst>
          </p:cNvPr>
          <p:cNvSpPr>
            <a:spLocks xmlns:a="http://schemas.openxmlformats.org/drawingml/2006/main" noGrp="1"/>
          </p:cNvSpPr>
          <p:nvPr/>
        </p:nvSpPr>
        <p:spPr>
          <a:xfrm xmlns:a="http://schemas.openxmlformats.org/drawingml/2006/main">
            <a:off x="6324600" y="28670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0E1720"/>
                </a:solidFill>
                <a:latin typeface="Arial"/>
                <a:ea typeface="Arial"/>
                <a:cs typeface="Arial"/>
              </a:defRPr>
            </a:pPr>
            <a:r>
              <a:rPr sz="1650" b="1">
                <a:solidFill>
                  <a:srgbClr val="0E1720"/>
                </a:solidFill>
                <a:latin typeface="Arial"/>
                <a:ea typeface="Arial"/>
                <a:cs typeface="Arial"/>
              </a:rPr>
              <a:t>Instructors</a:t>
            </a:r>
          </a:p>
        </p:txBody>
      </p:sp>
      <p:sp>
        <p:nvSpPr>
          <p:cNvPr id="16" name="purpose-1">
            <a:extLst xmlns:a="http://schemas.openxmlformats.org/drawingml/2006/main">
              <a:ext uri="{FF2B5EF4-FFF2-40B4-BE49-F238E27FC236}">
                <a16:creationId xmlns:a16="http://schemas.microsoft.com/office/drawing/2014/main" id="{7672834D-4E51-4C9F-BD09-F888BF61E09F}"/>
              </a:ext>
            </a:extLst>
          </p:cNvPr>
          <p:cNvSpPr>
            <a:spLocks xmlns:a="http://schemas.openxmlformats.org/drawingml/2006/main" noGrp="1"/>
          </p:cNvSpPr>
          <p:nvPr/>
        </p:nvSpPr>
        <p:spPr>
          <a:xfrm xmlns:a="http://schemas.openxmlformats.org/drawingml/2006/main">
            <a:off x="8724900" y="28765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F7C"/>
                </a:solidFill>
                <a:latin typeface="Arial"/>
                <a:ea typeface="Arial"/>
                <a:cs typeface="Arial"/>
              </a:defRPr>
            </a:pPr>
            <a:r>
              <a:rPr sz="1350" b="0">
                <a:solidFill>
                  <a:srgbClr val="5F6F7C"/>
                </a:solidFill>
                <a:latin typeface="Arial"/>
                <a:ea typeface="Arial"/>
                <a:cs typeface="Arial"/>
              </a:rPr>
              <a:t>Assign resources to courses and weeks</a:t>
            </a:r>
          </a:p>
        </p:txBody>
      </p:sp>
      <p:sp>
        <p:nvSpPr>
          <p:cNvPr id="17" name="rule-664-371">
            <a:extLst xmlns:a="http://schemas.openxmlformats.org/drawingml/2006/main">
              <a:ext uri="{FF2B5EF4-FFF2-40B4-BE49-F238E27FC236}">
                <a16:creationId xmlns:a16="http://schemas.microsoft.com/office/drawing/2014/main" id="{DF8645CD-B919-4BBD-B8FE-C225F926B3CC}"/>
              </a:ext>
            </a:extLst>
          </p:cNvPr>
          <p:cNvSpPr>
            <a:spLocks xmlns:a="http://schemas.openxmlformats.org/drawingml/2006/main" noGrp="1"/>
          </p:cNvSpPr>
          <p:nvPr/>
        </p:nvSpPr>
        <p:spPr>
          <a:xfrm xmlns:a="http://schemas.openxmlformats.org/drawingml/2006/main">
            <a:off x="6324600" y="3533775"/>
            <a:ext cx="52578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18" name="role-2">
            <a:extLst xmlns:a="http://schemas.openxmlformats.org/drawingml/2006/main">
              <a:ext uri="{FF2B5EF4-FFF2-40B4-BE49-F238E27FC236}">
                <a16:creationId xmlns:a16="http://schemas.microsoft.com/office/drawing/2014/main" id="{0DDA04D8-C6E1-44BC-8CA3-96B47A49B065}"/>
              </a:ext>
            </a:extLst>
          </p:cNvPr>
          <p:cNvSpPr>
            <a:spLocks xmlns:a="http://schemas.openxmlformats.org/drawingml/2006/main" noGrp="1"/>
          </p:cNvSpPr>
          <p:nvPr/>
        </p:nvSpPr>
        <p:spPr>
          <a:xfrm xmlns:a="http://schemas.openxmlformats.org/drawingml/2006/main">
            <a:off x="6324600" y="37814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0E1720"/>
                </a:solidFill>
                <a:latin typeface="Arial"/>
                <a:ea typeface="Arial"/>
                <a:cs typeface="Arial"/>
              </a:defRPr>
            </a:pPr>
            <a:r>
              <a:rPr sz="1650" b="1">
                <a:solidFill>
                  <a:srgbClr val="0E1720"/>
                </a:solidFill>
                <a:latin typeface="Arial"/>
                <a:ea typeface="Arial"/>
                <a:cs typeface="Arial"/>
              </a:rPr>
              <a:t>Resource administrators</a:t>
            </a:r>
          </a:p>
        </p:txBody>
      </p:sp>
      <p:sp>
        <p:nvSpPr>
          <p:cNvPr id="19" name="purpose-2">
            <a:extLst xmlns:a="http://schemas.openxmlformats.org/drawingml/2006/main">
              <a:ext uri="{FF2B5EF4-FFF2-40B4-BE49-F238E27FC236}">
                <a16:creationId xmlns:a16="http://schemas.microsoft.com/office/drawing/2014/main" id="{6057FCC6-99B7-4CC5-A242-6497C3A1D1AE}"/>
              </a:ext>
            </a:extLst>
          </p:cNvPr>
          <p:cNvSpPr>
            <a:spLocks xmlns:a="http://schemas.openxmlformats.org/drawingml/2006/main" noGrp="1"/>
          </p:cNvSpPr>
          <p:nvPr/>
        </p:nvSpPr>
        <p:spPr>
          <a:xfrm xmlns:a="http://schemas.openxmlformats.org/drawingml/2006/main">
            <a:off x="8724900" y="37909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F7C"/>
                </a:solidFill>
                <a:latin typeface="Arial"/>
                <a:ea typeface="Arial"/>
                <a:cs typeface="Arial"/>
              </a:defRPr>
            </a:pPr>
            <a:r>
              <a:rPr sz="1350" b="0">
                <a:solidFill>
                  <a:srgbClr val="5F6F7C"/>
                </a:solidFill>
                <a:latin typeface="Arial"/>
                <a:ea typeface="Arial"/>
                <a:cs typeface="Arial"/>
              </a:rPr>
              <a:t>Maintain formats, locations, and status</a:t>
            </a:r>
          </a:p>
        </p:txBody>
      </p:sp>
      <p:sp>
        <p:nvSpPr>
          <p:cNvPr id="20" name="rule-664-467">
            <a:extLst xmlns:a="http://schemas.openxmlformats.org/drawingml/2006/main">
              <a:ext uri="{FF2B5EF4-FFF2-40B4-BE49-F238E27FC236}">
                <a16:creationId xmlns:a16="http://schemas.microsoft.com/office/drawing/2014/main" id="{BA9E1FA5-63F3-4481-9D36-96FB5C4DB234}"/>
              </a:ext>
            </a:extLst>
          </p:cNvPr>
          <p:cNvSpPr>
            <a:spLocks xmlns:a="http://schemas.openxmlformats.org/drawingml/2006/main" noGrp="1"/>
          </p:cNvSpPr>
          <p:nvPr/>
        </p:nvSpPr>
        <p:spPr>
          <a:xfrm xmlns:a="http://schemas.openxmlformats.org/drawingml/2006/main">
            <a:off x="6324600" y="4448175"/>
            <a:ext cx="52578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21" name="role-3">
            <a:extLst xmlns:a="http://schemas.openxmlformats.org/drawingml/2006/main">
              <a:ext uri="{FF2B5EF4-FFF2-40B4-BE49-F238E27FC236}">
                <a16:creationId xmlns:a16="http://schemas.microsoft.com/office/drawing/2014/main" id="{2708B2EA-ECF1-4CC3-A3F3-393A5E6EAED3}"/>
              </a:ext>
            </a:extLst>
          </p:cNvPr>
          <p:cNvSpPr>
            <a:spLocks xmlns:a="http://schemas.openxmlformats.org/drawingml/2006/main" noGrp="1"/>
          </p:cNvSpPr>
          <p:nvPr/>
        </p:nvSpPr>
        <p:spPr>
          <a:xfrm xmlns:a="http://schemas.openxmlformats.org/drawingml/2006/main">
            <a:off x="6324600" y="46958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0E1720"/>
                </a:solidFill>
                <a:latin typeface="Arial"/>
                <a:ea typeface="Arial"/>
                <a:cs typeface="Arial"/>
              </a:defRPr>
            </a:pPr>
            <a:r>
              <a:rPr sz="1650" b="1">
                <a:solidFill>
                  <a:srgbClr val="0E1720"/>
                </a:solidFill>
                <a:latin typeface="Arial"/>
                <a:ea typeface="Arial"/>
                <a:cs typeface="Arial"/>
              </a:rPr>
              <a:t>Academic coordinators</a:t>
            </a:r>
          </a:p>
        </p:txBody>
      </p:sp>
      <p:sp>
        <p:nvSpPr>
          <p:cNvPr id="22" name="purpose-3">
            <a:extLst xmlns:a="http://schemas.openxmlformats.org/drawingml/2006/main">
              <a:ext uri="{FF2B5EF4-FFF2-40B4-BE49-F238E27FC236}">
                <a16:creationId xmlns:a16="http://schemas.microsoft.com/office/drawing/2014/main" id="{CF89181D-ACC2-49C8-9BB8-F458036BDF33}"/>
              </a:ext>
            </a:extLst>
          </p:cNvPr>
          <p:cNvSpPr>
            <a:spLocks xmlns:a="http://schemas.openxmlformats.org/drawingml/2006/main" noGrp="1"/>
          </p:cNvSpPr>
          <p:nvPr/>
        </p:nvSpPr>
        <p:spPr>
          <a:xfrm xmlns:a="http://schemas.openxmlformats.org/drawingml/2006/main">
            <a:off x="8724900" y="47053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F7C"/>
                </a:solidFill>
                <a:latin typeface="Arial"/>
                <a:ea typeface="Arial"/>
                <a:cs typeface="Arial"/>
              </a:defRPr>
            </a:pPr>
            <a:r>
              <a:rPr sz="1350" b="0">
                <a:solidFill>
                  <a:srgbClr val="5F6F7C"/>
                </a:solidFill>
                <a:latin typeface="Arial"/>
                <a:ea typeface="Arial"/>
                <a:cs typeface="Arial"/>
              </a:rPr>
              <a:t>Review coverage, access, and feedback</a:t>
            </a:r>
          </a:p>
        </p:txBody>
      </p:sp>
    </p:spTree>
    <p:extLst>
      <p:ext uri="{BB962C8B-B14F-4D97-AF65-F5344CB8AC3E}">
        <p14:creationId xmlns:p14="http://schemas.microsoft.com/office/powerpoint/2010/main" val="13286695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42f159f1aae245f7"/>
          <a:stretch xmlns:a="http://schemas.openxmlformats.org/drawingml/2006/main"/>
        </p:blipFill>
        <p:spPr>
          <a:xfrm xmlns:a="http://schemas.openxmlformats.org/drawingml/2006/main">
            <a:off x="1831041" y="0"/>
            <a:ext cx="8529918" cy="6591300"/>
          </a:xfrm>
          <a:prstGeom xmlns:a="http://schemas.openxmlformats.org/drawingml/2006/main" prst="rect">
            <a:avLst/>
          </a:prstGeom>
        </p:spPr>
      </p:pic>
      <p:sp>
        <p:nvSpPr>
          <p:cNvPr id="2" name="erd-presenter">
            <a:extLst xmlns:a="http://schemas.openxmlformats.org/drawingml/2006/main">
              <a:ext uri="{FF2B5EF4-FFF2-40B4-BE49-F238E27FC236}">
                <a16:creationId xmlns:a16="http://schemas.microsoft.com/office/drawing/2014/main" id="{A1E3DB4C-4628-4580-830B-735CD7012B7C}"/>
              </a:ext>
            </a:extLst>
          </p:cNvPr>
          <p:cNvSpPr>
            <a:spLocks xmlns:a="http://schemas.openxmlformats.org/drawingml/2006/main" noGrp="1"/>
          </p:cNvSpPr>
          <p:nvPr/>
        </p:nvSpPr>
        <p:spPr>
          <a:xfrm xmlns:a="http://schemas.openxmlformats.org/drawingml/2006/main">
            <a:off x="514350" y="6591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1">
                <a:solidFill>
                  <a:srgbClr val="5F6F7C"/>
                </a:solidFill>
                <a:latin typeface="Arial"/>
                <a:ea typeface="Arial"/>
                <a:cs typeface="Arial"/>
              </a:defRPr>
            </a:pPr>
            <a:r>
              <a:rPr sz="900" b="1">
                <a:solidFill>
                  <a:srgbClr val="5F6F7C"/>
                </a:solidFill>
                <a:latin typeface="Arial"/>
                <a:ea typeface="Arial"/>
                <a:cs typeface="Arial"/>
              </a:rPr>
              <a:t>ANUDARI UNDRAKH</a:t>
            </a:r>
          </a:p>
        </p:txBody>
      </p:sp>
      <p:sp>
        <p:nvSpPr>
          <p:cNvPr id="3" name="erd-number">
            <a:extLst xmlns:a="http://schemas.openxmlformats.org/drawingml/2006/main">
              <a:ext uri="{FF2B5EF4-FFF2-40B4-BE49-F238E27FC236}">
                <a16:creationId xmlns:a16="http://schemas.microsoft.com/office/drawing/2014/main" id="{9C8AB215-B7F1-4FBA-9ACB-F08C32AC8933}"/>
              </a:ext>
            </a:extLst>
          </p:cNvPr>
          <p:cNvSpPr>
            <a:spLocks xmlns:a="http://schemas.openxmlformats.org/drawingml/2006/main" noGrp="1"/>
          </p:cNvSpPr>
          <p:nvPr/>
        </p:nvSpPr>
        <p:spPr>
          <a:xfrm xmlns:a="http://schemas.openxmlformats.org/drawingml/2006/main">
            <a:off x="11239500" y="65913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F6F7C"/>
                </a:solidFill>
                <a:latin typeface="Arial"/>
                <a:ea typeface="Arial"/>
                <a:cs typeface="Arial"/>
              </a:defRPr>
            </a:pPr>
            <a:r>
              <a:rPr sz="900" b="0">
                <a:solidFill>
                  <a:srgbClr val="5F6F7C"/>
                </a:solidFill>
                <a:latin typeface="Arial"/>
                <a:ea typeface="Arial"/>
                <a:cs typeface="Arial"/>
              </a:rPr>
              <a:t>03</a:t>
            </a:r>
          </a:p>
        </p:txBody>
      </p:sp>
    </p:spTree>
    <p:extLst>
      <p:ext uri="{BB962C8B-B14F-4D97-AF65-F5344CB8AC3E}">
        <p14:creationId xmlns:p14="http://schemas.microsoft.com/office/powerpoint/2010/main" val="10450933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yebrow-4">
            <a:extLst xmlns:a="http://schemas.openxmlformats.org/drawingml/2006/main">
              <a:ext uri="{FF2B5EF4-FFF2-40B4-BE49-F238E27FC236}">
                <a16:creationId xmlns:a16="http://schemas.microsoft.com/office/drawing/2014/main" id="{FCE1777A-EBA6-4F76-A31B-541EC1295B4C}"/>
              </a:ext>
            </a:extLst>
          </p:cNvPr>
          <p:cNvSpPr>
            <a:spLocks xmlns:a="http://schemas.openxmlformats.org/drawingml/2006/main" noGrp="1"/>
          </p:cNvSpPr>
          <p:nvPr/>
        </p:nvSpPr>
        <p:spPr>
          <a:xfrm xmlns:a="http://schemas.openxmlformats.org/drawingml/2006/main">
            <a:off x="51435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2E8F91"/>
                </a:solidFill>
                <a:latin typeface="Arial"/>
                <a:ea typeface="Arial"/>
                <a:cs typeface="Arial"/>
              </a:defRPr>
            </a:pPr>
            <a:r>
              <a:rPr sz="975" b="1">
                <a:solidFill>
                  <a:srgbClr val="2E8F91"/>
                </a:solidFill>
                <a:latin typeface="Arial"/>
                <a:ea typeface="Arial"/>
                <a:cs typeface="Arial"/>
              </a:rPr>
              <a:t>KEY SQL QUERY • JOIN</a:t>
            </a:r>
          </a:p>
        </p:txBody>
      </p:sp>
      <p:sp>
        <p:nvSpPr>
          <p:cNvPr id="2" name="title-4">
            <a:extLst xmlns:a="http://schemas.openxmlformats.org/drawingml/2006/main">
              <a:ext uri="{FF2B5EF4-FFF2-40B4-BE49-F238E27FC236}">
                <a16:creationId xmlns:a16="http://schemas.microsoft.com/office/drawing/2014/main" id="{7F226403-5D25-42F6-96EF-A582A7C2594A}"/>
              </a:ext>
            </a:extLst>
          </p:cNvPr>
          <p:cNvSpPr>
            <a:spLocks xmlns:a="http://schemas.openxmlformats.org/drawingml/2006/main" noGrp="1"/>
          </p:cNvSpPr>
          <p:nvPr/>
        </p:nvSpPr>
        <p:spPr>
          <a:xfrm xmlns:a="http://schemas.openxmlformats.org/drawingml/2006/main">
            <a:off x="514350" y="571500"/>
            <a:ext cx="1116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0E1720"/>
                </a:solidFill>
                <a:latin typeface="Arial"/>
                <a:ea typeface="Arial"/>
                <a:cs typeface="Arial"/>
              </a:defRPr>
            </a:pPr>
            <a:r>
              <a:rPr sz="2850" b="1">
                <a:solidFill>
                  <a:srgbClr val="0E1720"/>
                </a:solidFill>
                <a:latin typeface="Arial"/>
                <a:ea typeface="Arial"/>
                <a:cs typeface="Arial"/>
              </a:rPr>
              <a:t>Query 1 connects courses to the resources students need</a:t>
            </a:r>
          </a:p>
        </p:txBody>
      </p:sp>
      <p:sp>
        <p:nvSpPr>
          <p:cNvPr id="3" name="rule-54-128">
            <a:extLst xmlns:a="http://schemas.openxmlformats.org/drawingml/2006/main">
              <a:ext uri="{FF2B5EF4-FFF2-40B4-BE49-F238E27FC236}">
                <a16:creationId xmlns:a16="http://schemas.microsoft.com/office/drawing/2014/main" id="{24E1ABDE-9ABA-4D1E-ACC2-4B76A8ECC2ED}"/>
              </a:ext>
            </a:extLst>
          </p:cNvPr>
          <p:cNvSpPr>
            <a:spLocks xmlns:a="http://schemas.openxmlformats.org/drawingml/2006/main" noGrp="1"/>
          </p:cNvSpPr>
          <p:nvPr/>
        </p:nvSpPr>
        <p:spPr>
          <a:xfrm xmlns:a="http://schemas.openxmlformats.org/drawingml/2006/main">
            <a:off x="514350" y="1219200"/>
            <a:ext cx="111633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4" name="presenter-4">
            <a:extLst xmlns:a="http://schemas.openxmlformats.org/drawingml/2006/main">
              <a:ext uri="{FF2B5EF4-FFF2-40B4-BE49-F238E27FC236}">
                <a16:creationId xmlns:a16="http://schemas.microsoft.com/office/drawing/2014/main" id="{9F2D9D58-0409-4D70-A451-78FD0E0D8828}"/>
              </a:ext>
            </a:extLst>
          </p:cNvPr>
          <p:cNvSpPr>
            <a:spLocks xmlns:a="http://schemas.openxmlformats.org/drawingml/2006/main" noGrp="1"/>
          </p:cNvSpPr>
          <p:nvPr/>
        </p:nvSpPr>
        <p:spPr>
          <a:xfrm xmlns:a="http://schemas.openxmlformats.org/drawingml/2006/main">
            <a:off x="51435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F6F7C"/>
                </a:solidFill>
                <a:latin typeface="Arial"/>
                <a:ea typeface="Arial"/>
                <a:cs typeface="Arial"/>
              </a:defRPr>
            </a:pPr>
            <a:r>
              <a:rPr sz="900" b="1">
                <a:solidFill>
                  <a:srgbClr val="5F6F7C"/>
                </a:solidFill>
                <a:latin typeface="Arial"/>
                <a:ea typeface="Arial"/>
                <a:cs typeface="Arial"/>
              </a:rPr>
              <a:t>ANUDARI UNDRAKH</a:t>
            </a:r>
          </a:p>
        </p:txBody>
      </p:sp>
      <p:sp>
        <p:nvSpPr>
          <p:cNvPr id="5" name="slide-number-4">
            <a:extLst xmlns:a="http://schemas.openxmlformats.org/drawingml/2006/main">
              <a:ext uri="{FF2B5EF4-FFF2-40B4-BE49-F238E27FC236}">
                <a16:creationId xmlns:a16="http://schemas.microsoft.com/office/drawing/2014/main" id="{B3BAD4AC-6A7D-4B75-8D33-85BD0736315F}"/>
              </a:ext>
            </a:extLst>
          </p:cNvPr>
          <p:cNvSpPr>
            <a:spLocks xmlns:a="http://schemas.openxmlformats.org/drawingml/2006/main" noGrp="1"/>
          </p:cNvSpPr>
          <p:nvPr/>
        </p:nvSpPr>
        <p:spPr>
          <a:xfrm xmlns:a="http://schemas.openxmlformats.org/drawingml/2006/main">
            <a:off x="1123950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F6F7C"/>
                </a:solidFill>
                <a:latin typeface="Arial"/>
                <a:ea typeface="Arial"/>
                <a:cs typeface="Arial"/>
              </a:defRPr>
            </a:pPr>
            <a:r>
              <a:rPr sz="900" b="0">
                <a:solidFill>
                  <a:srgbClr val="5F6F7C"/>
                </a:solidFill>
                <a:latin typeface="Arial"/>
                <a:ea typeface="Arial"/>
                <a:cs typeface="Arial"/>
              </a:rPr>
              <a:t>04</a:t>
            </a:r>
          </a:p>
        </p:txBody>
      </p:sp>
      <p:sp>
        <p:nvSpPr>
          <p:cNvPr id="6" name="q1-question">
            <a:extLst xmlns:a="http://schemas.openxmlformats.org/drawingml/2006/main">
              <a:ext uri="{FF2B5EF4-FFF2-40B4-BE49-F238E27FC236}">
                <a16:creationId xmlns:a16="http://schemas.microsoft.com/office/drawing/2014/main" id="{493E8DDA-7A4B-4628-80D0-AB62D57363D8}"/>
              </a:ext>
            </a:extLst>
          </p:cNvPr>
          <p:cNvSpPr>
            <a:spLocks xmlns:a="http://schemas.openxmlformats.org/drawingml/2006/main" noGrp="1"/>
          </p:cNvSpPr>
          <p:nvPr/>
        </p:nvSpPr>
        <p:spPr>
          <a:xfrm xmlns:a="http://schemas.openxmlformats.org/drawingml/2006/main">
            <a:off x="552450" y="14097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F6F7C"/>
                </a:solidFill>
                <a:latin typeface="Arial"/>
                <a:ea typeface="Arial"/>
                <a:cs typeface="Arial"/>
              </a:defRPr>
            </a:pPr>
            <a:r>
              <a:rPr sz="1500" b="0">
                <a:solidFill>
                  <a:srgbClr val="5F6F7C"/>
                </a:solidFill>
                <a:latin typeface="Arial"/>
                <a:ea typeface="Arial"/>
                <a:cs typeface="Arial"/>
              </a:rPr>
              <a:t>Business question: Which resources are assigned to each active course, and who teaches it?</a:t>
            </a:r>
          </a:p>
        </p:txBody>
      </p:sp>
      <p:sp>
        <p:nvSpPr>
          <p:cNvPr id="7" name="code-panel-58-198">
            <a:extLst xmlns:a="http://schemas.openxmlformats.org/drawingml/2006/main">
              <a:ext uri="{FF2B5EF4-FFF2-40B4-BE49-F238E27FC236}">
                <a16:creationId xmlns:a16="http://schemas.microsoft.com/office/drawing/2014/main" id="{6A5C133A-34EA-422C-8D50-9F08DF2583D2}"/>
              </a:ext>
            </a:extLst>
          </p:cNvPr>
          <p:cNvSpPr>
            <a:spLocks xmlns:a="http://schemas.openxmlformats.org/drawingml/2006/main" noGrp="1"/>
          </p:cNvSpPr>
          <p:nvPr/>
        </p:nvSpPr>
        <p:spPr>
          <a:xfrm xmlns:a="http://schemas.openxmlformats.org/drawingml/2006/main">
            <a:off x="552450" y="1885950"/>
            <a:ext cx="5810250" cy="3943350"/>
          </a:xfrm>
          <a:prstGeom xmlns:a="http://schemas.openxmlformats.org/drawingml/2006/main" prst="roundRect">
            <a:avLst>
              <a:gd name="adj" fmla="val 2415"/>
            </a:avLst>
          </a:prstGeom>
          <a:solidFill xmlns:a="http://schemas.openxmlformats.org/drawingml/2006/main">
            <a:srgbClr val="15384E"/>
          </a:solidFill>
          <a:ln xmlns:a="http://schemas.openxmlformats.org/drawingml/2006/main" w="9525">
            <a:solidFill>
              <a:srgbClr val="15384E"/>
            </a:solidFill>
            <a:prstDash val="solid"/>
          </a:ln>
        </p:spPr>
      </p:sp>
      <p:sp>
        <p:nvSpPr>
          <p:cNvPr id="8" name="code-label-58-198">
            <a:extLst xmlns:a="http://schemas.openxmlformats.org/drawingml/2006/main">
              <a:ext uri="{FF2B5EF4-FFF2-40B4-BE49-F238E27FC236}">
                <a16:creationId xmlns:a16="http://schemas.microsoft.com/office/drawing/2014/main" id="{136EDE4A-B709-4068-B266-CA4A61E1AF75}"/>
              </a:ext>
            </a:extLst>
          </p:cNvPr>
          <p:cNvSpPr>
            <a:spLocks xmlns:a="http://schemas.openxmlformats.org/drawingml/2006/main" noGrp="1"/>
          </p:cNvSpPr>
          <p:nvPr/>
        </p:nvSpPr>
        <p:spPr>
          <a:xfrm xmlns:a="http://schemas.openxmlformats.org/drawingml/2006/main">
            <a:off x="762000" y="2019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056"/>
          </a:bodyPr>
          <a:lstStyle xmlns:a="http://schemas.openxmlformats.org/drawingml/2006/main"/>
          <a:p xmlns:a="http://schemas.openxmlformats.org/drawingml/2006/main">
            <a:pPr algn="l">
              <a:defRPr sz="900" b="1">
                <a:solidFill>
                  <a:srgbClr val="9BDCF1"/>
                </a:solidFill>
                <a:latin typeface="Arial"/>
                <a:ea typeface="Arial"/>
                <a:cs typeface="Arial"/>
              </a:defRPr>
            </a:pPr>
            <a:r>
              <a:rPr sz="900" b="1">
                <a:solidFill>
                  <a:srgbClr val="9BDCF1"/>
                </a:solidFill>
                <a:latin typeface="Arial"/>
                <a:ea typeface="Arial"/>
                <a:cs typeface="Arial"/>
              </a:rPr>
              <a:t>FIVE-TABLE RELATIONSHIP PATH</a:t>
            </a:r>
          </a:p>
        </p:txBody>
      </p:sp>
      <p:sp>
        <p:nvSpPr>
          <p:cNvPr id="9" name="code-58-198">
            <a:extLst xmlns:a="http://schemas.openxmlformats.org/drawingml/2006/main">
              <a:ext uri="{FF2B5EF4-FFF2-40B4-BE49-F238E27FC236}">
                <a16:creationId xmlns:a16="http://schemas.microsoft.com/office/drawing/2014/main" id="{D9F0BE7B-C9E8-4BD3-9D24-5984CEB58917}"/>
              </a:ext>
            </a:extLst>
          </p:cNvPr>
          <p:cNvSpPr>
            <a:spLocks xmlns:a="http://schemas.openxmlformats.org/drawingml/2006/main" noGrp="1"/>
          </p:cNvSpPr>
          <p:nvPr/>
        </p:nvSpPr>
        <p:spPr>
          <a:xfrm xmlns:a="http://schemas.openxmlformats.org/drawingml/2006/main">
            <a:off x="762000" y="2343150"/>
            <a:ext cx="539115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SELECT c.course_code,</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CONCAT(i.first_name, ' ', i.last_name) AS instructor,</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r.title AS resource, cr.is_required</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FROM courses AS c</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JOIN users AS i ON i.user_id = c.instructor_id</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JOIN course_resources AS cr ON cr.course_id = c.course_id</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JOIN resources AS r ON r.resource_id = cr.resource_id</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WHERE c.status = 'Active'</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ORDER BY c.course_code, cr.week_number;</a:t>
            </a:r>
          </a:p>
        </p:txBody>
      </p:sp>
      <p:graphicFrame>
        <p:nvGraphicFramePr>
          <p:cNvPr id="23" name=""/>
          <p:cNvGraphicFramePr/>
          <p:nvPr/>
        </p:nvGraphicFramePr>
        <p:xfrm>
          <a:off xmlns:a="http://schemas.openxmlformats.org/drawingml/2006/main" x="6705600" y="1885950"/>
          <a:ext xmlns:a="http://schemas.openxmlformats.org/drawingml/2006/main" cx="4972050" cy="2400300"/>
        </p:xfrm>
        <a:graphic xmlns:a="http://schemas.openxmlformats.org/drawingml/2006/main">
          <a:graphicData uri="http://schemas.openxmlformats.org/drawingml/2006/table">
            <a:tbl>
              <a:tblPr/>
              <a:tblGrid>
                <a:gridCol w="781050"/>
                <a:gridCol w="1123950"/>
                <a:gridCol w="2286000"/>
                <a:gridCol w="781050"/>
              </a:tblGrid>
              <a:tr h="342900">
                <a:tc>
                  <a:txBody>
                    <a:bodyPr/>
                    <a:lstStyle/>
                    <a:p>
                      <a:r>
                        <a:rPr sz="1200" b="1">
                          <a:solidFill>
                            <a:srgbClr val="FFFFFF"/>
                          </a:solidFill>
                          <a:latin typeface="Arial"/>
                          <a:ea typeface="Arial"/>
                          <a:cs typeface="Arial"/>
                        </a:rPr>
                        <a:t>Code</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Instructor</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Resource</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Req.</a:t>
                      </a:r>
                    </a:p>
                  </a:txBody>
                  <a:tcPr marL="91440" marR="91440" marT="45720" marB="45720" anchor="ctr">
                    <a:solidFill>
                      <a:srgbClr val="15384E"/>
                    </a:solidFill>
                  </a:tcPr>
                </a:tc>
              </a:tr>
              <a:tr h="0">
                <a:tc>
                  <a:txBody>
                    <a:bodyPr/>
                    <a:lstStyle/>
                    <a:p>
                      <a:r>
                        <a:rPr sz="1200" b="0">
                          <a:solidFill>
                            <a:srgbClr val="0E1720"/>
                          </a:solidFill>
                          <a:latin typeface="Arial"/>
                          <a:ea typeface="Arial"/>
                          <a:cs typeface="Arial"/>
                        </a:rPr>
                        <a:t>CSC110</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Priya Davis</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Programming Fundamentals</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Yes</a:t>
                      </a:r>
                    </a:p>
                  </a:txBody>
                  <a:tcPr marL="91440" marR="91440" marT="45720" marB="45720" anchor="ctr">
                    <a:solidFill>
                      <a:srgbClr val="FFFFFF"/>
                    </a:solidFill>
                  </a:tcPr>
                </a:tc>
              </a:tr>
              <a:tr h="0">
                <a:tc>
                  <a:txBody>
                    <a:bodyPr/>
                    <a:lstStyle/>
                    <a:p>
                      <a:r>
                        <a:rPr sz="1200" b="0">
                          <a:solidFill>
                            <a:srgbClr val="0E1720"/>
                          </a:solidFill>
                          <a:latin typeface="Arial"/>
                          <a:ea typeface="Arial"/>
                          <a:cs typeface="Arial"/>
                        </a:rPr>
                        <a:t>CSC120</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Rafael Evans</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Academic Writing Slides</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Yes</a:t>
                      </a:r>
                    </a:p>
                  </a:txBody>
                  <a:tcPr marL="91440" marR="91440" marT="45720" marB="45720" anchor="ctr">
                    <a:solidFill>
                      <a:srgbClr val="F1F5F7"/>
                    </a:solidFill>
                  </a:tcPr>
                </a:tc>
              </a:tr>
              <a:tr h="0">
                <a:tc>
                  <a:txBody>
                    <a:bodyPr/>
                    <a:lstStyle/>
                    <a:p>
                      <a:r>
                        <a:rPr sz="1200" b="0">
                          <a:solidFill>
                            <a:srgbClr val="0E1720"/>
                          </a:solidFill>
                          <a:latin typeface="Arial"/>
                          <a:ea typeface="Arial"/>
                          <a:cs typeface="Arial"/>
                        </a:rPr>
                        <a:t>CSC210</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Sofia Foster</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Biology Lab Manual</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Yes</a:t>
                      </a:r>
                    </a:p>
                  </a:txBody>
                  <a:tcPr marL="91440" marR="91440" marT="45720" marB="45720" anchor="ctr">
                    <a:solidFill>
                      <a:srgbClr val="FFFFFF"/>
                    </a:solidFill>
                  </a:tcPr>
                </a:tc>
              </a:tr>
              <a:tr h="0">
                <a:tc>
                  <a:txBody>
                    <a:bodyPr/>
                    <a:lstStyle/>
                    <a:p>
                      <a:r>
                        <a:rPr sz="1200" b="0">
                          <a:solidFill>
                            <a:srgbClr val="0E1720"/>
                          </a:solidFill>
                          <a:latin typeface="Arial"/>
                          <a:ea typeface="Arial"/>
                          <a:cs typeface="Arial"/>
                        </a:rPr>
                        <a:t>CSC240</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Samuel Green</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MySQL Workbench</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No</a:t>
                      </a:r>
                    </a:p>
                  </a:txBody>
                  <a:tcPr marL="91440" marR="91440" marT="45720" marB="45720" anchor="ctr">
                    <a:solidFill>
                      <a:srgbClr val="F1F5F7"/>
                    </a:solidFill>
                  </a:tcPr>
                </a:tc>
              </a:tr>
            </a:tbl>
          </a:graphicData>
        </a:graphic>
      </p:graphicFrame>
      <p:sp>
        <p:nvSpPr>
          <p:cNvPr id="11" name="q1-takeaway-panel">
            <a:extLst xmlns:a="http://schemas.openxmlformats.org/drawingml/2006/main">
              <a:ext uri="{FF2B5EF4-FFF2-40B4-BE49-F238E27FC236}">
                <a16:creationId xmlns:a16="http://schemas.microsoft.com/office/drawing/2014/main" id="{CAE5E8F0-312E-4B3C-98D1-5FA685CF2848}"/>
              </a:ext>
            </a:extLst>
          </p:cNvPr>
          <p:cNvSpPr>
            <a:spLocks xmlns:a="http://schemas.openxmlformats.org/drawingml/2006/main" noGrp="1"/>
          </p:cNvSpPr>
          <p:nvPr/>
        </p:nvSpPr>
        <p:spPr>
          <a:xfrm xmlns:a="http://schemas.openxmlformats.org/drawingml/2006/main">
            <a:off x="6705600" y="4591050"/>
            <a:ext cx="4972050" cy="1238250"/>
          </a:xfrm>
          <a:prstGeom xmlns:a="http://schemas.openxmlformats.org/drawingml/2006/main" prst="rect">
            <a:avLst/>
          </a:prstGeom>
          <a:solidFill xmlns:a="http://schemas.openxmlformats.org/drawingml/2006/main">
            <a:srgbClr val="DCEBFF"/>
          </a:solidFill>
          <a:ln xmlns:a="http://schemas.openxmlformats.org/drawingml/2006/main" w="0">
            <a:noFill/>
            <a:prstDash val="solid"/>
          </a:ln>
        </p:spPr>
      </p:sp>
      <p:sp>
        <p:nvSpPr>
          <p:cNvPr id="12" name="q1-takeaway-label">
            <a:extLst xmlns:a="http://schemas.openxmlformats.org/drawingml/2006/main">
              <a:ext uri="{FF2B5EF4-FFF2-40B4-BE49-F238E27FC236}">
                <a16:creationId xmlns:a16="http://schemas.microsoft.com/office/drawing/2014/main" id="{C380E3D6-5662-4501-AFDD-4FCA5B89617A}"/>
              </a:ext>
            </a:extLst>
          </p:cNvPr>
          <p:cNvSpPr>
            <a:spLocks xmlns:a="http://schemas.openxmlformats.org/drawingml/2006/main" noGrp="1"/>
          </p:cNvSpPr>
          <p:nvPr/>
        </p:nvSpPr>
        <p:spPr>
          <a:xfrm xmlns:a="http://schemas.openxmlformats.org/drawingml/2006/main">
            <a:off x="6953250" y="481012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2F78F6"/>
                </a:solidFill>
                <a:latin typeface="Arial"/>
                <a:ea typeface="Arial"/>
                <a:cs typeface="Arial"/>
              </a:defRPr>
            </a:pPr>
            <a:r>
              <a:rPr sz="1050" b="1">
                <a:solidFill>
                  <a:srgbClr val="2F78F6"/>
                </a:solidFill>
                <a:latin typeface="Arial"/>
                <a:ea typeface="Arial"/>
                <a:cs typeface="Arial"/>
              </a:rPr>
              <a:t>WHAT THE RESULT TELLS US</a:t>
            </a:r>
          </a:p>
        </p:txBody>
      </p:sp>
      <p:sp>
        <p:nvSpPr>
          <p:cNvPr id="13" name="q1-takeaway">
            <a:extLst xmlns:a="http://schemas.openxmlformats.org/drawingml/2006/main">
              <a:ext uri="{FF2B5EF4-FFF2-40B4-BE49-F238E27FC236}">
                <a16:creationId xmlns:a16="http://schemas.microsoft.com/office/drawing/2014/main" id="{0D5C3407-DB50-48AD-B342-7A42E4778A03}"/>
              </a:ext>
            </a:extLst>
          </p:cNvPr>
          <p:cNvSpPr>
            <a:spLocks xmlns:a="http://schemas.openxmlformats.org/drawingml/2006/main" noGrp="1"/>
          </p:cNvSpPr>
          <p:nvPr/>
        </p:nvSpPr>
        <p:spPr>
          <a:xfrm xmlns:a="http://schemas.openxmlformats.org/drawingml/2006/main">
            <a:off x="6953250" y="5153025"/>
            <a:ext cx="4362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502"/>
          </a:bodyPr>
          <a:lstStyle xmlns:a="http://schemas.openxmlformats.org/drawingml/2006/main"/>
          <a:p xmlns:a="http://schemas.openxmlformats.org/drawingml/2006/main">
            <a:pPr algn="l">
              <a:defRPr sz="1500" b="0">
                <a:solidFill>
                  <a:srgbClr val="0E1720"/>
                </a:solidFill>
                <a:latin typeface="Arial"/>
                <a:ea typeface="Arial"/>
                <a:cs typeface="Arial"/>
              </a:defRPr>
            </a:pPr>
            <a:r>
              <a:rPr sz="1500" b="0">
                <a:solidFill>
                  <a:srgbClr val="0E1720"/>
                </a:solidFill>
                <a:latin typeface="Arial"/>
                <a:ea typeface="Arial"/>
                <a:cs typeface="Arial"/>
              </a:rPr>
              <a:t>Every row represents one valid course–resource assignment, with instructor and requirement status included.</a:t>
            </a:r>
          </a:p>
        </p:txBody>
      </p:sp>
    </p:spTree>
    <p:extLst>
      <p:ext uri="{BB962C8B-B14F-4D97-AF65-F5344CB8AC3E}">
        <p14:creationId xmlns:p14="http://schemas.microsoft.com/office/powerpoint/2010/main" val="20161282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5">
            <a:extLst xmlns:a="http://schemas.openxmlformats.org/drawingml/2006/main">
              <a:ext uri="{FF2B5EF4-FFF2-40B4-BE49-F238E27FC236}">
                <a16:creationId xmlns:a16="http://schemas.microsoft.com/office/drawing/2014/main" id="{62E8A866-E5F9-4AE8-90A5-9F73B86C9F40}"/>
              </a:ext>
            </a:extLst>
          </p:cNvPr>
          <p:cNvSpPr>
            <a:spLocks xmlns:a="http://schemas.openxmlformats.org/drawingml/2006/main" noGrp="1"/>
          </p:cNvSpPr>
          <p:nvPr/>
        </p:nvSpPr>
        <p:spPr>
          <a:xfrm xmlns:a="http://schemas.openxmlformats.org/drawingml/2006/main">
            <a:off x="51435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2E8F91"/>
                </a:solidFill>
                <a:latin typeface="Arial"/>
                <a:ea typeface="Arial"/>
                <a:cs typeface="Arial"/>
              </a:defRPr>
            </a:pPr>
            <a:r>
              <a:rPr sz="975" b="1">
                <a:solidFill>
                  <a:srgbClr val="2E8F91"/>
                </a:solidFill>
                <a:latin typeface="Arial"/>
                <a:ea typeface="Arial"/>
                <a:cs typeface="Arial"/>
              </a:rPr>
              <a:t>KEY SQL QUERY • GROUP BY + SUBQUERY</a:t>
            </a:r>
          </a:p>
        </p:txBody>
      </p:sp>
      <p:sp>
        <p:nvSpPr>
          <p:cNvPr id="2" name="title-5">
            <a:extLst xmlns:a="http://schemas.openxmlformats.org/drawingml/2006/main">
              <a:ext uri="{FF2B5EF4-FFF2-40B4-BE49-F238E27FC236}">
                <a16:creationId xmlns:a16="http://schemas.microsoft.com/office/drawing/2014/main" id="{FA74745E-F0DC-440E-9FCE-3C67E191E077}"/>
              </a:ext>
            </a:extLst>
          </p:cNvPr>
          <p:cNvSpPr>
            <a:spLocks xmlns:a="http://schemas.openxmlformats.org/drawingml/2006/main" noGrp="1"/>
          </p:cNvSpPr>
          <p:nvPr/>
        </p:nvSpPr>
        <p:spPr>
          <a:xfrm xmlns:a="http://schemas.openxmlformats.org/drawingml/2006/main">
            <a:off x="514350" y="571500"/>
            <a:ext cx="1116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0E1720"/>
                </a:solidFill>
                <a:latin typeface="Arial"/>
                <a:ea typeface="Arial"/>
                <a:cs typeface="Arial"/>
              </a:defRPr>
            </a:pPr>
            <a:r>
              <a:rPr sz="2850" b="1">
                <a:solidFill>
                  <a:srgbClr val="0E1720"/>
                </a:solidFill>
                <a:latin typeface="Arial"/>
                <a:ea typeface="Arial"/>
                <a:cs typeface="Arial"/>
              </a:rPr>
              <a:t>Query 2 turns availability into an inventory decision</a:t>
            </a:r>
          </a:p>
        </p:txBody>
      </p:sp>
      <p:sp>
        <p:nvSpPr>
          <p:cNvPr id="3" name="rule-54-128">
            <a:extLst xmlns:a="http://schemas.openxmlformats.org/drawingml/2006/main">
              <a:ext uri="{FF2B5EF4-FFF2-40B4-BE49-F238E27FC236}">
                <a16:creationId xmlns:a16="http://schemas.microsoft.com/office/drawing/2014/main" id="{45FC2790-1266-4DFF-AEDD-51B82CD02902}"/>
              </a:ext>
            </a:extLst>
          </p:cNvPr>
          <p:cNvSpPr>
            <a:spLocks xmlns:a="http://schemas.openxmlformats.org/drawingml/2006/main" noGrp="1"/>
          </p:cNvSpPr>
          <p:nvPr/>
        </p:nvSpPr>
        <p:spPr>
          <a:xfrm xmlns:a="http://schemas.openxmlformats.org/drawingml/2006/main">
            <a:off x="514350" y="1219200"/>
            <a:ext cx="111633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4" name="presenter-5">
            <a:extLst xmlns:a="http://schemas.openxmlformats.org/drawingml/2006/main">
              <a:ext uri="{FF2B5EF4-FFF2-40B4-BE49-F238E27FC236}">
                <a16:creationId xmlns:a16="http://schemas.microsoft.com/office/drawing/2014/main" id="{043D052E-48DF-4339-9740-076F81488FD1}"/>
              </a:ext>
            </a:extLst>
          </p:cNvPr>
          <p:cNvSpPr>
            <a:spLocks xmlns:a="http://schemas.openxmlformats.org/drawingml/2006/main" noGrp="1"/>
          </p:cNvSpPr>
          <p:nvPr/>
        </p:nvSpPr>
        <p:spPr>
          <a:xfrm xmlns:a="http://schemas.openxmlformats.org/drawingml/2006/main">
            <a:off x="51435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F6F7C"/>
                </a:solidFill>
                <a:latin typeface="Arial"/>
                <a:ea typeface="Arial"/>
                <a:cs typeface="Arial"/>
              </a:defRPr>
            </a:pPr>
            <a:r>
              <a:rPr sz="900" b="1">
                <a:solidFill>
                  <a:srgbClr val="5F6F7C"/>
                </a:solidFill>
                <a:latin typeface="Arial"/>
                <a:ea typeface="Arial"/>
                <a:cs typeface="Arial"/>
              </a:rPr>
              <a:t>JOSE ANTONIO HORTA HERRERA</a:t>
            </a:r>
          </a:p>
        </p:txBody>
      </p:sp>
      <p:sp>
        <p:nvSpPr>
          <p:cNvPr id="5" name="slide-number-5">
            <a:extLst xmlns:a="http://schemas.openxmlformats.org/drawingml/2006/main">
              <a:ext uri="{FF2B5EF4-FFF2-40B4-BE49-F238E27FC236}">
                <a16:creationId xmlns:a16="http://schemas.microsoft.com/office/drawing/2014/main" id="{2A09279E-3120-462C-9A58-77D0ED9D31E8}"/>
              </a:ext>
            </a:extLst>
          </p:cNvPr>
          <p:cNvSpPr>
            <a:spLocks xmlns:a="http://schemas.openxmlformats.org/drawingml/2006/main" noGrp="1"/>
          </p:cNvSpPr>
          <p:nvPr/>
        </p:nvSpPr>
        <p:spPr>
          <a:xfrm xmlns:a="http://schemas.openxmlformats.org/drawingml/2006/main">
            <a:off x="1123950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F6F7C"/>
                </a:solidFill>
                <a:latin typeface="Arial"/>
                <a:ea typeface="Arial"/>
                <a:cs typeface="Arial"/>
              </a:defRPr>
            </a:pPr>
            <a:r>
              <a:rPr sz="900" b="0">
                <a:solidFill>
                  <a:srgbClr val="5F6F7C"/>
                </a:solidFill>
                <a:latin typeface="Arial"/>
                <a:ea typeface="Arial"/>
                <a:cs typeface="Arial"/>
              </a:rPr>
              <a:t>05</a:t>
            </a:r>
          </a:p>
        </p:txBody>
      </p:sp>
      <p:sp>
        <p:nvSpPr>
          <p:cNvPr id="6" name="q2-question">
            <a:extLst xmlns:a="http://schemas.openxmlformats.org/drawingml/2006/main">
              <a:ext uri="{FF2B5EF4-FFF2-40B4-BE49-F238E27FC236}">
                <a16:creationId xmlns:a16="http://schemas.microsoft.com/office/drawing/2014/main" id="{38BABD79-0FF3-47E2-A4F0-55699DCA7AE4}"/>
              </a:ext>
            </a:extLst>
          </p:cNvPr>
          <p:cNvSpPr>
            <a:spLocks xmlns:a="http://schemas.openxmlformats.org/drawingml/2006/main" noGrp="1"/>
          </p:cNvSpPr>
          <p:nvPr/>
        </p:nvSpPr>
        <p:spPr>
          <a:xfrm xmlns:a="http://schemas.openxmlformats.org/drawingml/2006/main">
            <a:off x="552450" y="14097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F6F7C"/>
                </a:solidFill>
                <a:latin typeface="Arial"/>
                <a:ea typeface="Arial"/>
                <a:cs typeface="Arial"/>
              </a:defRPr>
            </a:pPr>
            <a:r>
              <a:rPr sz="1500" b="0">
                <a:solidFill>
                  <a:srgbClr val="5F6F7C"/>
                </a:solidFill>
                <a:latin typeface="Arial"/>
                <a:ea typeface="Arial"/>
                <a:cs typeface="Arial"/>
              </a:rPr>
              <a:t>Business question: How many available resources exist in each format, and what share does each format represent?</a:t>
            </a:r>
          </a:p>
        </p:txBody>
      </p:sp>
      <p:sp>
        <p:nvSpPr>
          <p:cNvPr id="7" name="code-panel-58-200">
            <a:extLst xmlns:a="http://schemas.openxmlformats.org/drawingml/2006/main">
              <a:ext uri="{FF2B5EF4-FFF2-40B4-BE49-F238E27FC236}">
                <a16:creationId xmlns:a16="http://schemas.microsoft.com/office/drawing/2014/main" id="{1B5CC8D3-E991-447A-A438-D2C4BF286719}"/>
              </a:ext>
            </a:extLst>
          </p:cNvPr>
          <p:cNvSpPr>
            <a:spLocks xmlns:a="http://schemas.openxmlformats.org/drawingml/2006/main" noGrp="1"/>
          </p:cNvSpPr>
          <p:nvPr/>
        </p:nvSpPr>
        <p:spPr>
          <a:xfrm xmlns:a="http://schemas.openxmlformats.org/drawingml/2006/main">
            <a:off x="552450" y="1905000"/>
            <a:ext cx="5810250" cy="3924300"/>
          </a:xfrm>
          <a:prstGeom xmlns:a="http://schemas.openxmlformats.org/drawingml/2006/main" prst="roundRect">
            <a:avLst>
              <a:gd name="adj" fmla="val 2427"/>
            </a:avLst>
          </a:prstGeom>
          <a:solidFill xmlns:a="http://schemas.openxmlformats.org/drawingml/2006/main">
            <a:srgbClr val="15384E"/>
          </a:solidFill>
          <a:ln xmlns:a="http://schemas.openxmlformats.org/drawingml/2006/main" w="9525">
            <a:solidFill>
              <a:srgbClr val="15384E"/>
            </a:solidFill>
            <a:prstDash val="solid"/>
          </a:ln>
        </p:spPr>
      </p:sp>
      <p:sp>
        <p:nvSpPr>
          <p:cNvPr id="8" name="code-label-58-200">
            <a:extLst xmlns:a="http://schemas.openxmlformats.org/drawingml/2006/main">
              <a:ext uri="{FF2B5EF4-FFF2-40B4-BE49-F238E27FC236}">
                <a16:creationId xmlns:a16="http://schemas.microsoft.com/office/drawing/2014/main" id="{2CEF6F76-B9F3-4A7A-9DE3-B575E881985D}"/>
              </a:ext>
            </a:extLst>
          </p:cNvPr>
          <p:cNvSpPr>
            <a:spLocks xmlns:a="http://schemas.openxmlformats.org/drawingml/2006/main" noGrp="1"/>
          </p:cNvSpPr>
          <p:nvPr/>
        </p:nvSpPr>
        <p:spPr>
          <a:xfrm xmlns:a="http://schemas.openxmlformats.org/drawingml/2006/main">
            <a:off x="762000" y="20383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056"/>
          </a:bodyPr>
          <a:lstStyle xmlns:a="http://schemas.openxmlformats.org/drawingml/2006/main"/>
          <a:p xmlns:a="http://schemas.openxmlformats.org/drawingml/2006/main">
            <a:pPr algn="l">
              <a:defRPr sz="900" b="1">
                <a:solidFill>
                  <a:srgbClr val="9BDCF1"/>
                </a:solidFill>
                <a:latin typeface="Arial"/>
                <a:ea typeface="Arial"/>
                <a:cs typeface="Arial"/>
              </a:defRPr>
            </a:pPr>
            <a:r>
              <a:rPr sz="900" b="1">
                <a:solidFill>
                  <a:srgbClr val="9BDCF1"/>
                </a:solidFill>
                <a:latin typeface="Arial"/>
                <a:ea typeface="Arial"/>
                <a:cs typeface="Arial"/>
              </a:rPr>
              <a:t>AGGREGATE + SCALAR SUBQUERY</a:t>
            </a:r>
          </a:p>
        </p:txBody>
      </p:sp>
      <p:sp>
        <p:nvSpPr>
          <p:cNvPr id="9" name="code-58-200">
            <a:extLst xmlns:a="http://schemas.openxmlformats.org/drawingml/2006/main">
              <a:ext uri="{FF2B5EF4-FFF2-40B4-BE49-F238E27FC236}">
                <a16:creationId xmlns:a16="http://schemas.microsoft.com/office/drawing/2014/main" id="{78F7FBFA-D826-48A2-8E25-7EDB9560E601}"/>
              </a:ext>
            </a:extLst>
          </p:cNvPr>
          <p:cNvSpPr>
            <a:spLocks xmlns:a="http://schemas.openxmlformats.org/drawingml/2006/main" noGrp="1"/>
          </p:cNvSpPr>
          <p:nvPr/>
        </p:nvSpPr>
        <p:spPr>
          <a:xfrm xmlns:a="http://schemas.openxmlformats.org/drawingml/2006/main">
            <a:off x="762000" y="2362200"/>
            <a:ext cx="5391150" cy="331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SELECT resource_format,</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COUNT(*) AS available_count,</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ROUND(100.0 * COUNT(*) /</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(SELECT COUNT(*) FROM resources</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WHERE availability_status = 'Available'), 1) AS share_pct</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FROM resources</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WHERE availability_status = 'Available'</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GROUP BY resource_format</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ORDER BY available_count DESC;</a:t>
            </a:r>
          </a:p>
        </p:txBody>
      </p:sp>
      <p:graphicFrame>
        <p:nvGraphicFramePr>
          <p:cNvPr id="22" name=""/>
          <p:cNvGraphicFramePr/>
          <p:nvPr/>
        </p:nvGraphicFramePr>
        <p:xfrm>
          <a:off xmlns:a="http://schemas.openxmlformats.org/drawingml/2006/main" x="6858000" y="2000250"/>
          <a:ext xmlns:a="http://schemas.openxmlformats.org/drawingml/2006/main" cx="4572000" cy="2857500"/>
        </p:xfrm>
        <a:graphic xmlns:a="http://schemas.openxmlformats.org/drawingml/2006/main">
          <a:graphicData uri="http://schemas.openxmlformats.org/drawingml/2006/table">
            <a:tbl>
              <a:tblPr/>
              <a:tblGrid>
                <a:gridCol w="1905000"/>
                <a:gridCol w="1333500"/>
                <a:gridCol w="1333500"/>
              </a:tblGrid>
              <a:tr h="361950">
                <a:tc>
                  <a:txBody>
                    <a:bodyPr/>
                    <a:lstStyle/>
                    <a:p>
                      <a:r>
                        <a:rPr sz="1200" b="1">
                          <a:solidFill>
                            <a:srgbClr val="FFFFFF"/>
                          </a:solidFill>
                          <a:latin typeface="Arial"/>
                          <a:ea typeface="Arial"/>
                          <a:cs typeface="Arial"/>
                        </a:rPr>
                        <a:t>Format</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Available</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Share</a:t>
                      </a:r>
                    </a:p>
                  </a:txBody>
                  <a:tcPr marL="91440" marR="91440" marT="45720" marB="45720" anchor="ctr">
                    <a:solidFill>
                      <a:srgbClr val="15384E"/>
                    </a:solidFill>
                  </a:tcPr>
                </a:tc>
              </a:tr>
              <a:tr h="0">
                <a:tc>
                  <a:txBody>
                    <a:bodyPr/>
                    <a:lstStyle/>
                    <a:p>
                      <a:r>
                        <a:rPr sz="1200" b="0">
                          <a:solidFill>
                            <a:srgbClr val="0E1720"/>
                          </a:solidFill>
                          <a:latin typeface="Arial"/>
                          <a:ea typeface="Arial"/>
                          <a:cs typeface="Arial"/>
                        </a:rPr>
                        <a:t>Software</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4</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17.4%</a:t>
                      </a:r>
                    </a:p>
                  </a:txBody>
                  <a:tcPr marL="91440" marR="91440" marT="45720" marB="45720" anchor="ctr">
                    <a:solidFill>
                      <a:srgbClr val="FFFFFF"/>
                    </a:solidFill>
                  </a:tcPr>
                </a:tc>
              </a:tr>
              <a:tr h="0">
                <a:tc>
                  <a:txBody>
                    <a:bodyPr/>
                    <a:lstStyle/>
                    <a:p>
                      <a:r>
                        <a:rPr sz="1200" b="0">
                          <a:solidFill>
                            <a:srgbClr val="0E1720"/>
                          </a:solidFill>
                          <a:latin typeface="Arial"/>
                          <a:ea typeface="Arial"/>
                          <a:cs typeface="Arial"/>
                        </a:rPr>
                        <a:t>Physical</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3</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13.0%</a:t>
                      </a:r>
                    </a:p>
                  </a:txBody>
                  <a:tcPr marL="91440" marR="91440" marT="45720" marB="45720" anchor="ctr">
                    <a:solidFill>
                      <a:srgbClr val="F1F5F7"/>
                    </a:solidFill>
                  </a:tcPr>
                </a:tc>
              </a:tr>
              <a:tr h="0">
                <a:tc>
                  <a:txBody>
                    <a:bodyPr/>
                    <a:lstStyle/>
                    <a:p>
                      <a:r>
                        <a:rPr sz="1200" b="0">
                          <a:solidFill>
                            <a:srgbClr val="0E1720"/>
                          </a:solidFill>
                          <a:latin typeface="Arial"/>
                          <a:ea typeface="Arial"/>
                          <a:cs typeface="Arial"/>
                        </a:rPr>
                        <a:t>PDF</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3</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13.0%</a:t>
                      </a:r>
                    </a:p>
                  </a:txBody>
                  <a:tcPr marL="91440" marR="91440" marT="45720" marB="45720" anchor="ctr">
                    <a:solidFill>
                      <a:srgbClr val="FFFFFF"/>
                    </a:solidFill>
                  </a:tcPr>
                </a:tc>
              </a:tr>
              <a:tr h="0">
                <a:tc>
                  <a:txBody>
                    <a:bodyPr/>
                    <a:lstStyle/>
                    <a:p>
                      <a:r>
                        <a:rPr sz="1200" b="0">
                          <a:solidFill>
                            <a:srgbClr val="0E1720"/>
                          </a:solidFill>
                          <a:latin typeface="Arial"/>
                          <a:ea typeface="Arial"/>
                          <a:cs typeface="Arial"/>
                        </a:rPr>
                        <a:t>Dataset</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3</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13.0%</a:t>
                      </a:r>
                    </a:p>
                  </a:txBody>
                  <a:tcPr marL="91440" marR="91440" marT="45720" marB="45720" anchor="ctr">
                    <a:solidFill>
                      <a:srgbClr val="F1F5F7"/>
                    </a:solidFill>
                  </a:tcPr>
                </a:tc>
              </a:tr>
              <a:tr h="0">
                <a:tc>
                  <a:txBody>
                    <a:bodyPr/>
                    <a:lstStyle/>
                    <a:p>
                      <a:r>
                        <a:rPr sz="1200" b="0">
                          <a:solidFill>
                            <a:srgbClr val="0E1720"/>
                          </a:solidFill>
                          <a:latin typeface="Arial"/>
                          <a:ea typeface="Arial"/>
                          <a:cs typeface="Arial"/>
                        </a:rPr>
                        <a:t>Web</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2</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8.7%</a:t>
                      </a:r>
                    </a:p>
                  </a:txBody>
                  <a:tcPr marL="91440" marR="91440" marT="45720" marB="45720" anchor="ctr">
                    <a:solidFill>
                      <a:srgbClr val="FFFFFF"/>
                    </a:solidFill>
                  </a:tcPr>
                </a:tc>
              </a:tr>
            </a:tbl>
          </a:graphicData>
        </a:graphic>
      </p:graphicFrame>
      <p:sp>
        <p:nvSpPr>
          <p:cNvPr id="11" name="q2-total-number">
            <a:extLst xmlns:a="http://schemas.openxmlformats.org/drawingml/2006/main">
              <a:ext uri="{FF2B5EF4-FFF2-40B4-BE49-F238E27FC236}">
                <a16:creationId xmlns:a16="http://schemas.microsoft.com/office/drawing/2014/main" id="{E94F608E-D8D8-4C58-9488-999D7E93C0B4}"/>
              </a:ext>
            </a:extLst>
          </p:cNvPr>
          <p:cNvSpPr>
            <a:spLocks xmlns:a="http://schemas.openxmlformats.org/drawingml/2006/main" noGrp="1"/>
          </p:cNvSpPr>
          <p:nvPr/>
        </p:nvSpPr>
        <p:spPr>
          <a:xfrm xmlns:a="http://schemas.openxmlformats.org/drawingml/2006/main">
            <a:off x="6915150" y="50673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972"/>
          </a:bodyPr>
          <a:lstStyle xmlns:a="http://schemas.openxmlformats.org/drawingml/2006/main"/>
          <a:p xmlns:a="http://schemas.openxmlformats.org/drawingml/2006/main">
            <a:pPr algn="l">
              <a:defRPr sz="3600" b="1">
                <a:solidFill>
                  <a:srgbClr val="2F78F6"/>
                </a:solidFill>
                <a:latin typeface="Arial"/>
                <a:ea typeface="Arial"/>
                <a:cs typeface="Arial"/>
              </a:defRPr>
            </a:pPr>
            <a:r>
              <a:rPr sz="3600" b="1">
                <a:solidFill>
                  <a:srgbClr val="2F78F6"/>
                </a:solidFill>
                <a:latin typeface="Arial"/>
                <a:ea typeface="Arial"/>
                <a:cs typeface="Arial"/>
              </a:rPr>
              <a:t>23</a:t>
            </a:r>
          </a:p>
        </p:txBody>
      </p:sp>
      <p:sp>
        <p:nvSpPr>
          <p:cNvPr id="12" name="q2-total-label">
            <a:extLst xmlns:a="http://schemas.openxmlformats.org/drawingml/2006/main">
              <a:ext uri="{FF2B5EF4-FFF2-40B4-BE49-F238E27FC236}">
                <a16:creationId xmlns:a16="http://schemas.microsoft.com/office/drawing/2014/main" id="{7F86B821-CB66-41A3-AC97-04D37C258435}"/>
              </a:ext>
            </a:extLst>
          </p:cNvPr>
          <p:cNvSpPr>
            <a:spLocks xmlns:a="http://schemas.openxmlformats.org/drawingml/2006/main" noGrp="1"/>
          </p:cNvSpPr>
          <p:nvPr/>
        </p:nvSpPr>
        <p:spPr>
          <a:xfrm xmlns:a="http://schemas.openxmlformats.org/drawingml/2006/main">
            <a:off x="8134350" y="515302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982"/>
          </a:bodyPr>
          <a:lstStyle xmlns:a="http://schemas.openxmlformats.org/drawingml/2006/main"/>
          <a:p xmlns:a="http://schemas.openxmlformats.org/drawingml/2006/main">
            <a:pPr algn="l">
              <a:defRPr sz="1425" b="0">
                <a:solidFill>
                  <a:srgbClr val="0E1720"/>
                </a:solidFill>
                <a:latin typeface="Arial"/>
                <a:ea typeface="Arial"/>
                <a:cs typeface="Arial"/>
              </a:defRPr>
            </a:pPr>
            <a:r>
              <a:rPr sz="1425" b="0">
                <a:solidFill>
                  <a:srgbClr val="0E1720"/>
                </a:solidFill>
                <a:latin typeface="Arial"/>
                <a:ea typeface="Arial"/>
                <a:cs typeface="Arial"/>
              </a:rPr>
              <a:t>resources are currently available across eight formats</a:t>
            </a:r>
          </a:p>
        </p:txBody>
      </p:sp>
    </p:spTree>
    <p:extLst>
      <p:ext uri="{BB962C8B-B14F-4D97-AF65-F5344CB8AC3E}">
        <p14:creationId xmlns:p14="http://schemas.microsoft.com/office/powerpoint/2010/main" val="104667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6">
            <a:extLst xmlns:a="http://schemas.openxmlformats.org/drawingml/2006/main">
              <a:ext uri="{FF2B5EF4-FFF2-40B4-BE49-F238E27FC236}">
                <a16:creationId xmlns:a16="http://schemas.microsoft.com/office/drawing/2014/main" id="{A42EA5E3-432D-4AF5-99FC-5E010ECB1CDD}"/>
              </a:ext>
            </a:extLst>
          </p:cNvPr>
          <p:cNvSpPr>
            <a:spLocks xmlns:a="http://schemas.openxmlformats.org/drawingml/2006/main" noGrp="1"/>
          </p:cNvSpPr>
          <p:nvPr/>
        </p:nvSpPr>
        <p:spPr>
          <a:xfrm xmlns:a="http://schemas.openxmlformats.org/drawingml/2006/main">
            <a:off x="51435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2E8F91"/>
                </a:solidFill>
                <a:latin typeface="Arial"/>
                <a:ea typeface="Arial"/>
                <a:cs typeface="Arial"/>
              </a:defRPr>
            </a:pPr>
            <a:r>
              <a:rPr sz="975" b="1">
                <a:solidFill>
                  <a:srgbClr val="2E8F91"/>
                </a:solidFill>
                <a:latin typeface="Arial"/>
                <a:ea typeface="Arial"/>
                <a:cs typeface="Arial"/>
              </a:rPr>
              <a:t>KEY SQL QUERY • CASE + HAVING</a:t>
            </a:r>
          </a:p>
        </p:txBody>
      </p:sp>
      <p:sp>
        <p:nvSpPr>
          <p:cNvPr id="2" name="title-6">
            <a:extLst xmlns:a="http://schemas.openxmlformats.org/drawingml/2006/main">
              <a:ext uri="{FF2B5EF4-FFF2-40B4-BE49-F238E27FC236}">
                <a16:creationId xmlns:a16="http://schemas.microsoft.com/office/drawing/2014/main" id="{F82BE3B3-BDEF-4ECB-80B4-0395A5E54601}"/>
              </a:ext>
            </a:extLst>
          </p:cNvPr>
          <p:cNvSpPr>
            <a:spLocks xmlns:a="http://schemas.openxmlformats.org/drawingml/2006/main" noGrp="1"/>
          </p:cNvSpPr>
          <p:nvPr/>
        </p:nvSpPr>
        <p:spPr>
          <a:xfrm xmlns:a="http://schemas.openxmlformats.org/drawingml/2006/main">
            <a:off x="514350" y="571500"/>
            <a:ext cx="1116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0E1720"/>
                </a:solidFill>
                <a:latin typeface="Arial"/>
                <a:ea typeface="Arial"/>
                <a:cs typeface="Arial"/>
              </a:defRPr>
            </a:pPr>
            <a:r>
              <a:rPr sz="2850" b="1">
                <a:solidFill>
                  <a:srgbClr val="0E1720"/>
                </a:solidFill>
                <a:latin typeface="Arial"/>
                <a:ea typeface="Arial"/>
                <a:cs typeface="Arial"/>
              </a:rPr>
              <a:t>Query 3 reveals patterns in student resource activity</a:t>
            </a:r>
          </a:p>
        </p:txBody>
      </p:sp>
      <p:sp>
        <p:nvSpPr>
          <p:cNvPr id="3" name="rule-54-128">
            <a:extLst xmlns:a="http://schemas.openxmlformats.org/drawingml/2006/main">
              <a:ext uri="{FF2B5EF4-FFF2-40B4-BE49-F238E27FC236}">
                <a16:creationId xmlns:a16="http://schemas.microsoft.com/office/drawing/2014/main" id="{7B6B99F1-0AA5-44AC-8AF9-BEA73A760F79}"/>
              </a:ext>
            </a:extLst>
          </p:cNvPr>
          <p:cNvSpPr>
            <a:spLocks xmlns:a="http://schemas.openxmlformats.org/drawingml/2006/main" noGrp="1"/>
          </p:cNvSpPr>
          <p:nvPr/>
        </p:nvSpPr>
        <p:spPr>
          <a:xfrm xmlns:a="http://schemas.openxmlformats.org/drawingml/2006/main">
            <a:off x="514350" y="1219200"/>
            <a:ext cx="111633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4" name="presenter-6">
            <a:extLst xmlns:a="http://schemas.openxmlformats.org/drawingml/2006/main">
              <a:ext uri="{FF2B5EF4-FFF2-40B4-BE49-F238E27FC236}">
                <a16:creationId xmlns:a16="http://schemas.microsoft.com/office/drawing/2014/main" id="{A00492E5-5985-4A0F-AD29-A873680821E4}"/>
              </a:ext>
            </a:extLst>
          </p:cNvPr>
          <p:cNvSpPr>
            <a:spLocks xmlns:a="http://schemas.openxmlformats.org/drawingml/2006/main" noGrp="1"/>
          </p:cNvSpPr>
          <p:nvPr/>
        </p:nvSpPr>
        <p:spPr>
          <a:xfrm xmlns:a="http://schemas.openxmlformats.org/drawingml/2006/main">
            <a:off x="51435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F6F7C"/>
                </a:solidFill>
                <a:latin typeface="Arial"/>
                <a:ea typeface="Arial"/>
                <a:cs typeface="Arial"/>
              </a:defRPr>
            </a:pPr>
            <a:r>
              <a:rPr sz="900" b="1">
                <a:solidFill>
                  <a:srgbClr val="5F6F7C"/>
                </a:solidFill>
                <a:latin typeface="Arial"/>
                <a:ea typeface="Arial"/>
                <a:cs typeface="Arial"/>
              </a:rPr>
              <a:t>JOSE ANTONIO HORTA HERRERA</a:t>
            </a:r>
          </a:p>
        </p:txBody>
      </p:sp>
      <p:sp>
        <p:nvSpPr>
          <p:cNvPr id="5" name="slide-number-6">
            <a:extLst xmlns:a="http://schemas.openxmlformats.org/drawingml/2006/main">
              <a:ext uri="{FF2B5EF4-FFF2-40B4-BE49-F238E27FC236}">
                <a16:creationId xmlns:a16="http://schemas.microsoft.com/office/drawing/2014/main" id="{1BC13674-4D9B-45B6-9563-F0DC7C4B93D5}"/>
              </a:ext>
            </a:extLst>
          </p:cNvPr>
          <p:cNvSpPr>
            <a:spLocks xmlns:a="http://schemas.openxmlformats.org/drawingml/2006/main" noGrp="1"/>
          </p:cNvSpPr>
          <p:nvPr/>
        </p:nvSpPr>
        <p:spPr>
          <a:xfrm xmlns:a="http://schemas.openxmlformats.org/drawingml/2006/main">
            <a:off x="1123950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F6F7C"/>
                </a:solidFill>
                <a:latin typeface="Arial"/>
                <a:ea typeface="Arial"/>
                <a:cs typeface="Arial"/>
              </a:defRPr>
            </a:pPr>
            <a:r>
              <a:rPr sz="900" b="0">
                <a:solidFill>
                  <a:srgbClr val="5F6F7C"/>
                </a:solidFill>
                <a:latin typeface="Arial"/>
                <a:ea typeface="Arial"/>
                <a:cs typeface="Arial"/>
              </a:rPr>
              <a:t>06</a:t>
            </a:r>
          </a:p>
        </p:txBody>
      </p:sp>
      <p:sp>
        <p:nvSpPr>
          <p:cNvPr id="6" name="q3-question">
            <a:extLst xmlns:a="http://schemas.openxmlformats.org/drawingml/2006/main">
              <a:ext uri="{FF2B5EF4-FFF2-40B4-BE49-F238E27FC236}">
                <a16:creationId xmlns:a16="http://schemas.microsoft.com/office/drawing/2014/main" id="{9B1A3189-139A-4ACE-AD84-90AF5B85E94B}"/>
              </a:ext>
            </a:extLst>
          </p:cNvPr>
          <p:cNvSpPr>
            <a:spLocks xmlns:a="http://schemas.openxmlformats.org/drawingml/2006/main" noGrp="1"/>
          </p:cNvSpPr>
          <p:nvPr/>
        </p:nvSpPr>
        <p:spPr>
          <a:xfrm xmlns:a="http://schemas.openxmlformats.org/drawingml/2006/main">
            <a:off x="552450" y="14097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F6F7C"/>
                </a:solidFill>
                <a:latin typeface="Arial"/>
                <a:ea typeface="Arial"/>
                <a:cs typeface="Arial"/>
              </a:defRPr>
            </a:pPr>
            <a:r>
              <a:rPr sz="1500" b="0">
                <a:solidFill>
                  <a:srgbClr val="5F6F7C"/>
                </a:solidFill>
                <a:latin typeface="Arial"/>
                <a:ea typeface="Arial"/>
                <a:cs typeface="Arial"/>
              </a:rPr>
              <a:t>Business question: Which students interacted with resources, how often, and what feedback did they provide?</a:t>
            </a:r>
          </a:p>
        </p:txBody>
      </p:sp>
      <p:sp>
        <p:nvSpPr>
          <p:cNvPr id="7" name="code-panel-58-194">
            <a:extLst xmlns:a="http://schemas.openxmlformats.org/drawingml/2006/main">
              <a:ext uri="{FF2B5EF4-FFF2-40B4-BE49-F238E27FC236}">
                <a16:creationId xmlns:a16="http://schemas.microsoft.com/office/drawing/2014/main" id="{796BDCA1-6717-40CB-9AFE-0DD08EE03424}"/>
              </a:ext>
            </a:extLst>
          </p:cNvPr>
          <p:cNvSpPr>
            <a:spLocks xmlns:a="http://schemas.openxmlformats.org/drawingml/2006/main" noGrp="1"/>
          </p:cNvSpPr>
          <p:nvPr/>
        </p:nvSpPr>
        <p:spPr>
          <a:xfrm xmlns:a="http://schemas.openxmlformats.org/drawingml/2006/main">
            <a:off x="552450" y="1847850"/>
            <a:ext cx="6191250" cy="4095750"/>
          </a:xfrm>
          <a:prstGeom xmlns:a="http://schemas.openxmlformats.org/drawingml/2006/main" prst="roundRect">
            <a:avLst>
              <a:gd name="adj" fmla="val 2326"/>
            </a:avLst>
          </a:prstGeom>
          <a:solidFill xmlns:a="http://schemas.openxmlformats.org/drawingml/2006/main">
            <a:srgbClr val="15384E"/>
          </a:solidFill>
          <a:ln xmlns:a="http://schemas.openxmlformats.org/drawingml/2006/main" w="9525">
            <a:solidFill>
              <a:srgbClr val="15384E"/>
            </a:solidFill>
            <a:prstDash val="solid"/>
          </a:ln>
        </p:spPr>
      </p:sp>
      <p:sp>
        <p:nvSpPr>
          <p:cNvPr id="8" name="code-label-58-194">
            <a:extLst xmlns:a="http://schemas.openxmlformats.org/drawingml/2006/main">
              <a:ext uri="{FF2B5EF4-FFF2-40B4-BE49-F238E27FC236}">
                <a16:creationId xmlns:a16="http://schemas.microsoft.com/office/drawing/2014/main" id="{98D0AD92-D4D3-4460-9359-8F441E777D08}"/>
              </a:ext>
            </a:extLst>
          </p:cNvPr>
          <p:cNvSpPr>
            <a:spLocks xmlns:a="http://schemas.openxmlformats.org/drawingml/2006/main" noGrp="1"/>
          </p:cNvSpPr>
          <p:nvPr/>
        </p:nvSpPr>
        <p:spPr>
          <a:xfrm xmlns:a="http://schemas.openxmlformats.org/drawingml/2006/main">
            <a:off x="762000" y="19812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5446"/>
          </a:bodyPr>
          <a:lstStyle xmlns:a="http://schemas.openxmlformats.org/drawingml/2006/main"/>
          <a:p xmlns:a="http://schemas.openxmlformats.org/drawingml/2006/main">
            <a:pPr algn="l">
              <a:defRPr sz="900" b="1">
                <a:solidFill>
                  <a:srgbClr val="9BDCF1"/>
                </a:solidFill>
                <a:latin typeface="Arial"/>
                <a:ea typeface="Arial"/>
                <a:cs typeface="Arial"/>
              </a:defRPr>
            </a:pPr>
            <a:r>
              <a:rPr sz="900" b="1">
                <a:solidFill>
                  <a:srgbClr val="9BDCF1"/>
                </a:solidFill>
                <a:latin typeface="Arial"/>
                <a:ea typeface="Arial"/>
                <a:cs typeface="Arial"/>
              </a:rPr>
              <a:t>CONDITIONAL AGGREGATION</a:t>
            </a:r>
          </a:p>
        </p:txBody>
      </p:sp>
      <p:sp>
        <p:nvSpPr>
          <p:cNvPr id="9" name="code-58-194">
            <a:extLst xmlns:a="http://schemas.openxmlformats.org/drawingml/2006/main">
              <a:ext uri="{FF2B5EF4-FFF2-40B4-BE49-F238E27FC236}">
                <a16:creationId xmlns:a16="http://schemas.microsoft.com/office/drawing/2014/main" id="{C1F00650-6994-495E-95C1-1C9DDC7EB710}"/>
              </a:ext>
            </a:extLst>
          </p:cNvPr>
          <p:cNvSpPr>
            <a:spLocks xmlns:a="http://schemas.openxmlformats.org/drawingml/2006/main" noGrp="1"/>
          </p:cNvSpPr>
          <p:nvPr/>
        </p:nvSpPr>
        <p:spPr>
          <a:xfrm xmlns:a="http://schemas.openxmlformats.org/drawingml/2006/main">
            <a:off x="762000" y="2305050"/>
            <a:ext cx="57721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SELECT CONCAT(u.first_name, ' ', u.last_name) AS student,</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COUNT(ru.usage_id) AS interactions,</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SUM(CASE WHEN ru.action_type = 'Downloaded'</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THEN 1 ELSE 0 END) AS downloads,</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ROUND(AVG(ru.feedback_rating), 2) AS avg_rating</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FROM users AS u</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JOIN resource_usage AS ru ON ru.user_id = u.user_id</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JOIN resources AS r ON r.resource_id = ru.resource_id</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WHERE u.role = 'Student'</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GROUP BY u.user_id, u.first_name, u.last_name</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HAVING COUNT(ru.usage_id) &gt;= 1;</a:t>
            </a:r>
          </a:p>
        </p:txBody>
      </p:sp>
      <p:graphicFrame>
        <p:nvGraphicFramePr>
          <p:cNvPr id="22" name=""/>
          <p:cNvGraphicFramePr/>
          <p:nvPr/>
        </p:nvGraphicFramePr>
        <p:xfrm>
          <a:off xmlns:a="http://schemas.openxmlformats.org/drawingml/2006/main" x="7067550" y="2000250"/>
          <a:ext xmlns:a="http://schemas.openxmlformats.org/drawingml/2006/main" cx="4362450" cy="2800350"/>
        </p:xfrm>
        <a:graphic xmlns:a="http://schemas.openxmlformats.org/drawingml/2006/main">
          <a:graphicData uri="http://schemas.openxmlformats.org/drawingml/2006/table">
            <a:tbl>
              <a:tblPr/>
              <a:tblGrid>
                <a:gridCol w="1809750"/>
                <a:gridCol w="619125"/>
                <a:gridCol w="1000125"/>
                <a:gridCol w="933450"/>
              </a:tblGrid>
              <a:tr h="361950">
                <a:tc>
                  <a:txBody>
                    <a:bodyPr/>
                    <a:lstStyle/>
                    <a:p>
                      <a:r>
                        <a:rPr sz="1200" b="1">
                          <a:solidFill>
                            <a:srgbClr val="FFFFFF"/>
                          </a:solidFill>
                          <a:latin typeface="Arial"/>
                          <a:ea typeface="Arial"/>
                          <a:cs typeface="Arial"/>
                        </a:rPr>
                        <a:t>Student</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Uses</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Downloads</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Rating</a:t>
                      </a:r>
                    </a:p>
                  </a:txBody>
                  <a:tcPr marL="91440" marR="91440" marT="45720" marB="45720" anchor="ctr">
                    <a:solidFill>
                      <a:srgbClr val="15384E"/>
                    </a:solidFill>
                  </a:tcPr>
                </a:tc>
              </a:tr>
              <a:tr h="0">
                <a:tc>
                  <a:txBody>
                    <a:bodyPr/>
                    <a:lstStyle/>
                    <a:p>
                      <a:r>
                        <a:rPr sz="1200" b="0">
                          <a:solidFill>
                            <a:srgbClr val="0E1720"/>
                          </a:solidFill>
                          <a:latin typeface="Arial"/>
                          <a:ea typeface="Arial"/>
                          <a:cs typeface="Arial"/>
                        </a:rPr>
                        <a:t>Aaliyah Anderson</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2</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0</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4.0</a:t>
                      </a:r>
                    </a:p>
                  </a:txBody>
                  <a:tcPr marL="91440" marR="91440" marT="45720" marB="45720" anchor="ctr">
                    <a:solidFill>
                      <a:srgbClr val="FFFFFF"/>
                    </a:solidFill>
                  </a:tcPr>
                </a:tc>
              </a:tr>
              <a:tr h="0">
                <a:tc>
                  <a:txBody>
                    <a:bodyPr/>
                    <a:lstStyle/>
                    <a:p>
                      <a:r>
                        <a:rPr sz="1200" b="0">
                          <a:solidFill>
                            <a:srgbClr val="0E1720"/>
                          </a:solidFill>
                          <a:latin typeface="Arial"/>
                          <a:ea typeface="Arial"/>
                          <a:cs typeface="Arial"/>
                        </a:rPr>
                        <a:t>Chloe Garcia</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2</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0</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4.0</a:t>
                      </a:r>
                    </a:p>
                  </a:txBody>
                  <a:tcPr marL="91440" marR="91440" marT="45720" marB="45720" anchor="ctr">
                    <a:solidFill>
                      <a:srgbClr val="F1F5F7"/>
                    </a:solidFill>
                  </a:tcPr>
                </a:tc>
              </a:tr>
              <a:tr h="0">
                <a:tc>
                  <a:txBody>
                    <a:bodyPr/>
                    <a:lstStyle/>
                    <a:p>
                      <a:r>
                        <a:rPr sz="1200" b="0">
                          <a:solidFill>
                            <a:srgbClr val="0E1720"/>
                          </a:solidFill>
                          <a:latin typeface="Arial"/>
                          <a:ea typeface="Arial"/>
                          <a:cs typeface="Arial"/>
                        </a:rPr>
                        <a:t>Ethan Johnson</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2</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2</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3.5</a:t>
                      </a:r>
                    </a:p>
                  </a:txBody>
                  <a:tcPr marL="91440" marR="91440" marT="45720" marB="45720" anchor="ctr">
                    <a:solidFill>
                      <a:srgbClr val="FFFFFF"/>
                    </a:solidFill>
                  </a:tcPr>
                </a:tc>
              </a:tr>
              <a:tr h="0">
                <a:tc>
                  <a:txBody>
                    <a:bodyPr/>
                    <a:lstStyle/>
                    <a:p>
                      <a:r>
                        <a:rPr sz="1200" b="0">
                          <a:solidFill>
                            <a:srgbClr val="0E1720"/>
                          </a:solidFill>
                          <a:latin typeface="Arial"/>
                          <a:ea typeface="Arial"/>
                          <a:cs typeface="Arial"/>
                        </a:rPr>
                        <a:t>Jose Ramirez</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2</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2</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4.0</a:t>
                      </a:r>
                    </a:p>
                  </a:txBody>
                  <a:tcPr marL="91440" marR="91440" marT="45720" marB="45720" anchor="ctr">
                    <a:solidFill>
                      <a:srgbClr val="F1F5F7"/>
                    </a:solidFill>
                  </a:tcPr>
                </a:tc>
              </a:tr>
              <a:tr h="0">
                <a:tc>
                  <a:txBody>
                    <a:bodyPr/>
                    <a:lstStyle/>
                    <a:p>
                      <a:r>
                        <a:rPr sz="1200" b="0">
                          <a:solidFill>
                            <a:srgbClr val="0E1720"/>
                          </a:solidFill>
                          <a:latin typeface="Arial"/>
                          <a:ea typeface="Arial"/>
                          <a:cs typeface="Arial"/>
                        </a:rPr>
                        <a:t>Jasmine Quinn</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2</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0</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3.0</a:t>
                      </a:r>
                    </a:p>
                  </a:txBody>
                  <a:tcPr marL="91440" marR="91440" marT="45720" marB="45720" anchor="ctr">
                    <a:solidFill>
                      <a:srgbClr val="FFFFFF"/>
                    </a:solidFill>
                  </a:tcPr>
                </a:tc>
              </a:tr>
            </a:tbl>
          </a:graphicData>
        </a:graphic>
      </p:graphicFrame>
      <p:sp>
        <p:nvSpPr>
          <p:cNvPr id="11" name="q3-takeaway-panel">
            <a:extLst xmlns:a="http://schemas.openxmlformats.org/drawingml/2006/main">
              <a:ext uri="{FF2B5EF4-FFF2-40B4-BE49-F238E27FC236}">
                <a16:creationId xmlns:a16="http://schemas.microsoft.com/office/drawing/2014/main" id="{7D3EFBC8-2012-4DED-94F7-5A9B40722B11}"/>
              </a:ext>
            </a:extLst>
          </p:cNvPr>
          <p:cNvSpPr>
            <a:spLocks xmlns:a="http://schemas.openxmlformats.org/drawingml/2006/main" noGrp="1"/>
          </p:cNvSpPr>
          <p:nvPr/>
        </p:nvSpPr>
        <p:spPr>
          <a:xfrm xmlns:a="http://schemas.openxmlformats.org/drawingml/2006/main">
            <a:off x="7067550" y="5010150"/>
            <a:ext cx="4362450" cy="933450"/>
          </a:xfrm>
          <a:prstGeom xmlns:a="http://schemas.openxmlformats.org/drawingml/2006/main" prst="rect">
            <a:avLst/>
          </a:prstGeom>
          <a:solidFill xmlns:a="http://schemas.openxmlformats.org/drawingml/2006/main">
            <a:srgbClr val="F1F5F7"/>
          </a:solidFill>
          <a:ln xmlns:a="http://schemas.openxmlformats.org/drawingml/2006/main" w="0">
            <a:noFill/>
            <a:prstDash val="solid"/>
          </a:ln>
        </p:spPr>
      </p:sp>
      <p:sp>
        <p:nvSpPr>
          <p:cNvPr id="12" name="q3-takeaway">
            <a:extLst xmlns:a="http://schemas.openxmlformats.org/drawingml/2006/main">
              <a:ext uri="{FF2B5EF4-FFF2-40B4-BE49-F238E27FC236}">
                <a16:creationId xmlns:a16="http://schemas.microsoft.com/office/drawing/2014/main" id="{6F666F41-7D6F-4287-BA91-2F3583AC464E}"/>
              </a:ext>
            </a:extLst>
          </p:cNvPr>
          <p:cNvSpPr>
            <a:spLocks xmlns:a="http://schemas.openxmlformats.org/drawingml/2006/main" noGrp="1"/>
          </p:cNvSpPr>
          <p:nvPr/>
        </p:nvSpPr>
        <p:spPr>
          <a:xfrm xmlns:a="http://schemas.openxmlformats.org/drawingml/2006/main">
            <a:off x="7315200" y="5248275"/>
            <a:ext cx="3867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333"/>
          </a:bodyPr>
          <a:lstStyle xmlns:a="http://schemas.openxmlformats.org/drawingml/2006/main"/>
          <a:p xmlns:a="http://schemas.openxmlformats.org/drawingml/2006/main">
            <a:pPr algn="l">
              <a:defRPr sz="1500" b="0">
                <a:solidFill>
                  <a:srgbClr val="0E1720"/>
                </a:solidFill>
                <a:latin typeface="Arial"/>
                <a:ea typeface="Arial"/>
                <a:cs typeface="Arial"/>
              </a:defRPr>
            </a:pPr>
            <a:r>
              <a:rPr sz="1500" b="0">
                <a:solidFill>
                  <a:srgbClr val="0E1720"/>
                </a:solidFill>
                <a:latin typeface="Arial"/>
                <a:ea typeface="Arial"/>
                <a:cs typeface="Arial"/>
              </a:rPr>
              <a:t>CASE counts specific actions; HAVING removes users with no matching activity.</a:t>
            </a:r>
          </a:p>
        </p:txBody>
      </p:sp>
    </p:spTree>
    <p:extLst>
      <p:ext uri="{BB962C8B-B14F-4D97-AF65-F5344CB8AC3E}">
        <p14:creationId xmlns:p14="http://schemas.microsoft.com/office/powerpoint/2010/main" val="14096011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eyebrow-7">
            <a:extLst xmlns:a="http://schemas.openxmlformats.org/drawingml/2006/main">
              <a:ext uri="{FF2B5EF4-FFF2-40B4-BE49-F238E27FC236}">
                <a16:creationId xmlns:a16="http://schemas.microsoft.com/office/drawing/2014/main" id="{A903F0B0-E9AA-4D7B-91B9-5F03B0AA2867}"/>
              </a:ext>
            </a:extLst>
          </p:cNvPr>
          <p:cNvSpPr>
            <a:spLocks xmlns:a="http://schemas.openxmlformats.org/drawingml/2006/main" noGrp="1"/>
          </p:cNvSpPr>
          <p:nvPr/>
        </p:nvSpPr>
        <p:spPr>
          <a:xfrm xmlns:a="http://schemas.openxmlformats.org/drawingml/2006/main">
            <a:off x="51435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2E8F91"/>
                </a:solidFill>
                <a:latin typeface="Arial"/>
                <a:ea typeface="Arial"/>
                <a:cs typeface="Arial"/>
              </a:defRPr>
            </a:pPr>
            <a:r>
              <a:rPr sz="975" b="1">
                <a:solidFill>
                  <a:srgbClr val="2E8F91"/>
                </a:solidFill>
                <a:latin typeface="Arial"/>
                <a:ea typeface="Arial"/>
                <a:cs typeface="Arial"/>
              </a:rPr>
              <a:t>VIEW DEMONSTRATION • DATE FUNCTION</a:t>
            </a:r>
          </a:p>
        </p:txBody>
      </p:sp>
      <p:sp>
        <p:nvSpPr>
          <p:cNvPr id="2" name="title-7">
            <a:extLst xmlns:a="http://schemas.openxmlformats.org/drawingml/2006/main">
              <a:ext uri="{FF2B5EF4-FFF2-40B4-BE49-F238E27FC236}">
                <a16:creationId xmlns:a16="http://schemas.microsoft.com/office/drawing/2014/main" id="{911C0026-D3CC-4ADA-8386-081BF428F292}"/>
              </a:ext>
            </a:extLst>
          </p:cNvPr>
          <p:cNvSpPr>
            <a:spLocks xmlns:a="http://schemas.openxmlformats.org/drawingml/2006/main" noGrp="1"/>
          </p:cNvSpPr>
          <p:nvPr/>
        </p:nvSpPr>
        <p:spPr>
          <a:xfrm xmlns:a="http://schemas.openxmlformats.org/drawingml/2006/main">
            <a:off x="514350" y="571500"/>
            <a:ext cx="1116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0E1720"/>
                </a:solidFill>
                <a:latin typeface="Arial"/>
                <a:ea typeface="Arial"/>
                <a:cs typeface="Arial"/>
              </a:defRPr>
            </a:pPr>
            <a:r>
              <a:rPr sz="2850" b="1">
                <a:solidFill>
                  <a:srgbClr val="0E1720"/>
                </a:solidFill>
                <a:latin typeface="Arial"/>
                <a:ea typeface="Arial"/>
                <a:cs typeface="Arial"/>
              </a:rPr>
              <a:t>The usage view turns three tables into a reusable report</a:t>
            </a:r>
          </a:p>
        </p:txBody>
      </p:sp>
      <p:sp>
        <p:nvSpPr>
          <p:cNvPr id="3" name="rule-54-128">
            <a:extLst xmlns:a="http://schemas.openxmlformats.org/drawingml/2006/main">
              <a:ext uri="{FF2B5EF4-FFF2-40B4-BE49-F238E27FC236}">
                <a16:creationId xmlns:a16="http://schemas.microsoft.com/office/drawing/2014/main" id="{75C368EF-F9BE-4EA4-A61C-A747DC14A6E1}"/>
              </a:ext>
            </a:extLst>
          </p:cNvPr>
          <p:cNvSpPr>
            <a:spLocks xmlns:a="http://schemas.openxmlformats.org/drawingml/2006/main" noGrp="1"/>
          </p:cNvSpPr>
          <p:nvPr/>
        </p:nvSpPr>
        <p:spPr>
          <a:xfrm xmlns:a="http://schemas.openxmlformats.org/drawingml/2006/main">
            <a:off x="514350" y="1219200"/>
            <a:ext cx="111633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4" name="presenter-7">
            <a:extLst xmlns:a="http://schemas.openxmlformats.org/drawingml/2006/main">
              <a:ext uri="{FF2B5EF4-FFF2-40B4-BE49-F238E27FC236}">
                <a16:creationId xmlns:a16="http://schemas.microsoft.com/office/drawing/2014/main" id="{6D54AFB7-2D48-4940-BFD5-B498A236EA1B}"/>
              </a:ext>
            </a:extLst>
          </p:cNvPr>
          <p:cNvSpPr>
            <a:spLocks xmlns:a="http://schemas.openxmlformats.org/drawingml/2006/main" noGrp="1"/>
          </p:cNvSpPr>
          <p:nvPr/>
        </p:nvSpPr>
        <p:spPr>
          <a:xfrm xmlns:a="http://schemas.openxmlformats.org/drawingml/2006/main">
            <a:off x="51435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F6F7C"/>
                </a:solidFill>
                <a:latin typeface="Arial"/>
                <a:ea typeface="Arial"/>
                <a:cs typeface="Arial"/>
              </a:defRPr>
            </a:pPr>
            <a:r>
              <a:rPr sz="900" b="1">
                <a:solidFill>
                  <a:srgbClr val="5F6F7C"/>
                </a:solidFill>
                <a:latin typeface="Arial"/>
                <a:ea typeface="Arial"/>
                <a:cs typeface="Arial"/>
              </a:rPr>
              <a:t>JOSE ANTONIO HORTA HERRERA</a:t>
            </a:r>
          </a:p>
        </p:txBody>
      </p:sp>
      <p:sp>
        <p:nvSpPr>
          <p:cNvPr id="5" name="slide-number-7">
            <a:extLst xmlns:a="http://schemas.openxmlformats.org/drawingml/2006/main">
              <a:ext uri="{FF2B5EF4-FFF2-40B4-BE49-F238E27FC236}">
                <a16:creationId xmlns:a16="http://schemas.microsoft.com/office/drawing/2014/main" id="{ED60E2CC-9997-45DF-86A4-D3E2E885BFFF}"/>
              </a:ext>
            </a:extLst>
          </p:cNvPr>
          <p:cNvSpPr>
            <a:spLocks xmlns:a="http://schemas.openxmlformats.org/drawingml/2006/main" noGrp="1"/>
          </p:cNvSpPr>
          <p:nvPr/>
        </p:nvSpPr>
        <p:spPr>
          <a:xfrm xmlns:a="http://schemas.openxmlformats.org/drawingml/2006/main">
            <a:off x="1123950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F6F7C"/>
                </a:solidFill>
                <a:latin typeface="Arial"/>
                <a:ea typeface="Arial"/>
                <a:cs typeface="Arial"/>
              </a:defRPr>
            </a:pPr>
            <a:r>
              <a:rPr sz="900" b="0">
                <a:solidFill>
                  <a:srgbClr val="5F6F7C"/>
                </a:solidFill>
                <a:latin typeface="Arial"/>
                <a:ea typeface="Arial"/>
                <a:cs typeface="Arial"/>
              </a:rPr>
              <a:t>07</a:t>
            </a:r>
          </a:p>
        </p:txBody>
      </p:sp>
      <p:sp>
        <p:nvSpPr>
          <p:cNvPr id="6" name="view-purpose">
            <a:extLst xmlns:a="http://schemas.openxmlformats.org/drawingml/2006/main">
              <a:ext uri="{FF2B5EF4-FFF2-40B4-BE49-F238E27FC236}">
                <a16:creationId xmlns:a16="http://schemas.microsoft.com/office/drawing/2014/main" id="{458F901B-D7D4-4F09-AA27-3B873BBD7612}"/>
              </a:ext>
            </a:extLst>
          </p:cNvPr>
          <p:cNvSpPr>
            <a:spLocks xmlns:a="http://schemas.openxmlformats.org/drawingml/2006/main" noGrp="1"/>
          </p:cNvSpPr>
          <p:nvPr/>
        </p:nvSpPr>
        <p:spPr>
          <a:xfrm xmlns:a="http://schemas.openxmlformats.org/drawingml/2006/main">
            <a:off x="552450" y="15049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15384E"/>
                </a:solidFill>
                <a:latin typeface="Arial"/>
                <a:ea typeface="Arial"/>
                <a:cs typeface="Arial"/>
              </a:defRPr>
            </a:pPr>
            <a:r>
              <a:rPr sz="2100" b="1">
                <a:solidFill>
                  <a:srgbClr val="15384E"/>
                </a:solidFill>
                <a:latin typeface="Arial"/>
                <a:ea typeface="Arial"/>
                <a:cs typeface="Arial"/>
              </a:rPr>
              <a:t>vw_resource_usage_summary</a:t>
            </a:r>
          </a:p>
        </p:txBody>
      </p:sp>
      <p:sp>
        <p:nvSpPr>
          <p:cNvPr id="7" name="view-source">
            <a:extLst xmlns:a="http://schemas.openxmlformats.org/drawingml/2006/main">
              <a:ext uri="{FF2B5EF4-FFF2-40B4-BE49-F238E27FC236}">
                <a16:creationId xmlns:a16="http://schemas.microsoft.com/office/drawing/2014/main" id="{2D37981D-0364-48AA-9A54-3C1B56098DCD}"/>
              </a:ext>
            </a:extLst>
          </p:cNvPr>
          <p:cNvSpPr>
            <a:spLocks xmlns:a="http://schemas.openxmlformats.org/drawingml/2006/main" noGrp="1"/>
          </p:cNvSpPr>
          <p:nvPr/>
        </p:nvSpPr>
        <p:spPr>
          <a:xfrm xmlns:a="http://schemas.openxmlformats.org/drawingml/2006/main">
            <a:off x="552450" y="19812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l">
              <a:defRPr sz="1425" b="0">
                <a:solidFill>
                  <a:srgbClr val="2E8F91"/>
                </a:solidFill>
                <a:latin typeface="Arial"/>
                <a:ea typeface="Arial"/>
                <a:cs typeface="Arial"/>
              </a:defRPr>
            </a:pPr>
            <a:r>
              <a:rPr sz="1425" b="0">
                <a:solidFill>
                  <a:srgbClr val="2E8F91"/>
                </a:solidFill>
                <a:latin typeface="Arial"/>
                <a:ea typeface="Arial"/>
                <a:cs typeface="Arial"/>
              </a:rPr>
              <a:t>Resources  +  Categories  +  Resource_Usage</a:t>
            </a:r>
          </a:p>
        </p:txBody>
      </p:sp>
      <p:sp>
        <p:nvSpPr>
          <p:cNvPr id="8" name="view-description">
            <a:extLst xmlns:a="http://schemas.openxmlformats.org/drawingml/2006/main">
              <a:ext uri="{FF2B5EF4-FFF2-40B4-BE49-F238E27FC236}">
                <a16:creationId xmlns:a16="http://schemas.microsoft.com/office/drawing/2014/main" id="{D66A3E19-0DED-47E0-86BA-871DBC09E509}"/>
              </a:ext>
            </a:extLst>
          </p:cNvPr>
          <p:cNvSpPr>
            <a:spLocks xmlns:a="http://schemas.openxmlformats.org/drawingml/2006/main" noGrp="1"/>
          </p:cNvSpPr>
          <p:nvPr/>
        </p:nvSpPr>
        <p:spPr>
          <a:xfrm xmlns:a="http://schemas.openxmlformats.org/drawingml/2006/main">
            <a:off x="552450" y="2457450"/>
            <a:ext cx="4667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0E1720"/>
                </a:solidFill>
                <a:latin typeface="Arial"/>
                <a:ea typeface="Arial"/>
                <a:cs typeface="Arial"/>
              </a:defRPr>
            </a:pPr>
            <a:r>
              <a:rPr sz="1650" b="0">
                <a:solidFill>
                  <a:srgbClr val="0E1720"/>
                </a:solidFill>
                <a:latin typeface="Arial"/>
                <a:ea typeface="Arial"/>
                <a:cs typeface="Arial"/>
              </a:rPr>
              <a:t>Pre-joins descriptive fields and aggregates views, downloads, loans, returns, ratings, and the most recent access time.</a:t>
            </a:r>
          </a:p>
        </p:txBody>
      </p:sp>
      <p:sp>
        <p:nvSpPr>
          <p:cNvPr id="9" name="rule-58-382">
            <a:extLst xmlns:a="http://schemas.openxmlformats.org/drawingml/2006/main">
              <a:ext uri="{FF2B5EF4-FFF2-40B4-BE49-F238E27FC236}">
                <a16:creationId xmlns:a16="http://schemas.microsoft.com/office/drawing/2014/main" id="{5E4C77F5-9012-4846-AA29-3275BBB88B0E}"/>
              </a:ext>
            </a:extLst>
          </p:cNvPr>
          <p:cNvSpPr>
            <a:spLocks xmlns:a="http://schemas.openxmlformats.org/drawingml/2006/main" noGrp="1"/>
          </p:cNvSpPr>
          <p:nvPr/>
        </p:nvSpPr>
        <p:spPr>
          <a:xfrm xmlns:a="http://schemas.openxmlformats.org/drawingml/2006/main">
            <a:off x="552450" y="3638550"/>
            <a:ext cx="466725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10" name="view-users-label">
            <a:extLst xmlns:a="http://schemas.openxmlformats.org/drawingml/2006/main">
              <a:ext uri="{FF2B5EF4-FFF2-40B4-BE49-F238E27FC236}">
                <a16:creationId xmlns:a16="http://schemas.microsoft.com/office/drawing/2014/main" id="{95A9C128-32D5-4AEC-A6A4-26C03A39E487}"/>
              </a:ext>
            </a:extLst>
          </p:cNvPr>
          <p:cNvSpPr>
            <a:spLocks xmlns:a="http://schemas.openxmlformats.org/drawingml/2006/main" noGrp="1"/>
          </p:cNvSpPr>
          <p:nvPr/>
        </p:nvSpPr>
        <p:spPr>
          <a:xfrm xmlns:a="http://schemas.openxmlformats.org/drawingml/2006/main">
            <a:off x="552450" y="39052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2F78F6"/>
                </a:solidFill>
                <a:latin typeface="Arial"/>
                <a:ea typeface="Arial"/>
                <a:cs typeface="Arial"/>
              </a:defRPr>
            </a:pPr>
            <a:r>
              <a:rPr sz="1050" b="1">
                <a:solidFill>
                  <a:srgbClr val="2F78F6"/>
                </a:solidFill>
                <a:latin typeface="Arial"/>
                <a:ea typeface="Arial"/>
                <a:cs typeface="Arial"/>
              </a:rPr>
              <a:t>USED BY</a:t>
            </a:r>
          </a:p>
        </p:txBody>
      </p:sp>
      <p:sp>
        <p:nvSpPr>
          <p:cNvPr id="11" name="view-users">
            <a:extLst xmlns:a="http://schemas.openxmlformats.org/drawingml/2006/main">
              <a:ext uri="{FF2B5EF4-FFF2-40B4-BE49-F238E27FC236}">
                <a16:creationId xmlns:a16="http://schemas.microsoft.com/office/drawing/2014/main" id="{630A5EBC-AFA4-4682-B904-C15D06CBA86A}"/>
              </a:ext>
            </a:extLst>
          </p:cNvPr>
          <p:cNvSpPr>
            <a:spLocks xmlns:a="http://schemas.openxmlformats.org/drawingml/2006/main" noGrp="1"/>
          </p:cNvSpPr>
          <p:nvPr/>
        </p:nvSpPr>
        <p:spPr>
          <a:xfrm xmlns:a="http://schemas.openxmlformats.org/drawingml/2006/main">
            <a:off x="552450" y="4248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79"/>
          </a:bodyPr>
          <a:lstStyle xmlns:a="http://schemas.openxmlformats.org/drawingml/2006/main"/>
          <a:p xmlns:a="http://schemas.openxmlformats.org/drawingml/2006/main">
            <a:pPr algn="l">
              <a:defRPr sz="1650" b="1">
                <a:solidFill>
                  <a:srgbClr val="0E1720"/>
                </a:solidFill>
                <a:latin typeface="Arial"/>
                <a:ea typeface="Arial"/>
                <a:cs typeface="Arial"/>
              </a:defRPr>
            </a:pPr>
            <a:r>
              <a:rPr sz="1650" b="1">
                <a:solidFill>
                  <a:srgbClr val="0E1720"/>
                </a:solidFill>
                <a:latin typeface="Arial"/>
                <a:ea typeface="Arial"/>
                <a:cs typeface="Arial"/>
              </a:rPr>
              <a:t>Resource administrators and academic coordinators</a:t>
            </a:r>
          </a:p>
        </p:txBody>
      </p:sp>
      <p:sp>
        <p:nvSpPr>
          <p:cNvPr id="12" name="view-benefit">
            <a:extLst xmlns:a="http://schemas.openxmlformats.org/drawingml/2006/main">
              <a:ext uri="{FF2B5EF4-FFF2-40B4-BE49-F238E27FC236}">
                <a16:creationId xmlns:a16="http://schemas.microsoft.com/office/drawing/2014/main" id="{11EF5EDA-6CF0-42DB-904F-29A22229B8D3}"/>
              </a:ext>
            </a:extLst>
          </p:cNvPr>
          <p:cNvSpPr>
            <a:spLocks xmlns:a="http://schemas.openxmlformats.org/drawingml/2006/main" noGrp="1"/>
          </p:cNvSpPr>
          <p:nvPr/>
        </p:nvSpPr>
        <p:spPr>
          <a:xfrm xmlns:a="http://schemas.openxmlformats.org/drawingml/2006/main">
            <a:off x="552450" y="5010150"/>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F6F7C"/>
                </a:solidFill>
                <a:latin typeface="Arial"/>
                <a:ea typeface="Arial"/>
                <a:cs typeface="Arial"/>
              </a:defRPr>
            </a:pPr>
            <a:r>
              <a:rPr sz="1425" b="0">
                <a:solidFill>
                  <a:srgbClr val="5F6F7C"/>
                </a:solidFill>
                <a:latin typeface="Arial"/>
                <a:ea typeface="Arial"/>
                <a:cs typeface="Arial"/>
              </a:rPr>
              <a:t>Why a view: one tested definition can support many reports without repeating a long JOIN and GROUP BY.</a:t>
            </a:r>
          </a:p>
        </p:txBody>
      </p:sp>
      <p:sp>
        <p:nvSpPr>
          <p:cNvPr id="13" name="code-panel-604-158">
            <a:extLst xmlns:a="http://schemas.openxmlformats.org/drawingml/2006/main">
              <a:ext uri="{FF2B5EF4-FFF2-40B4-BE49-F238E27FC236}">
                <a16:creationId xmlns:a16="http://schemas.microsoft.com/office/drawing/2014/main" id="{B59C52BE-3FD0-42C8-82FF-D6C67B523284}"/>
              </a:ext>
            </a:extLst>
          </p:cNvPr>
          <p:cNvSpPr>
            <a:spLocks xmlns:a="http://schemas.openxmlformats.org/drawingml/2006/main" noGrp="1"/>
          </p:cNvSpPr>
          <p:nvPr/>
        </p:nvSpPr>
        <p:spPr>
          <a:xfrm xmlns:a="http://schemas.openxmlformats.org/drawingml/2006/main">
            <a:off x="5753100" y="1504950"/>
            <a:ext cx="5924550" cy="2857500"/>
          </a:xfrm>
          <a:prstGeom xmlns:a="http://schemas.openxmlformats.org/drawingml/2006/main" prst="roundRect">
            <a:avLst>
              <a:gd name="adj" fmla="val 3333"/>
            </a:avLst>
          </a:prstGeom>
          <a:solidFill xmlns:a="http://schemas.openxmlformats.org/drawingml/2006/main">
            <a:srgbClr val="15384E"/>
          </a:solidFill>
          <a:ln xmlns:a="http://schemas.openxmlformats.org/drawingml/2006/main" w="9525">
            <a:solidFill>
              <a:srgbClr val="15384E"/>
            </a:solidFill>
            <a:prstDash val="solid"/>
          </a:ln>
        </p:spPr>
      </p:sp>
      <p:sp>
        <p:nvSpPr>
          <p:cNvPr id="14" name="code-label-604-158">
            <a:extLst xmlns:a="http://schemas.openxmlformats.org/drawingml/2006/main">
              <a:ext uri="{FF2B5EF4-FFF2-40B4-BE49-F238E27FC236}">
                <a16:creationId xmlns:a16="http://schemas.microsoft.com/office/drawing/2014/main" id="{674C7B90-9C08-4569-9BC7-0F1B2924265D}"/>
              </a:ext>
            </a:extLst>
          </p:cNvPr>
          <p:cNvSpPr>
            <a:spLocks xmlns:a="http://schemas.openxmlformats.org/drawingml/2006/main" noGrp="1"/>
          </p:cNvSpPr>
          <p:nvPr/>
        </p:nvSpPr>
        <p:spPr>
          <a:xfrm xmlns:a="http://schemas.openxmlformats.org/drawingml/2006/main">
            <a:off x="5962650" y="1638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056"/>
          </a:bodyPr>
          <a:lstStyle xmlns:a="http://schemas.openxmlformats.org/drawingml/2006/main"/>
          <a:p xmlns:a="http://schemas.openxmlformats.org/drawingml/2006/main">
            <a:pPr algn="l">
              <a:defRPr sz="900" b="1">
                <a:solidFill>
                  <a:srgbClr val="9BDCF1"/>
                </a:solidFill>
                <a:latin typeface="Arial"/>
                <a:ea typeface="Arial"/>
                <a:cs typeface="Arial"/>
              </a:defRPr>
            </a:pPr>
            <a:r>
              <a:rPr sz="900" b="1">
                <a:solidFill>
                  <a:srgbClr val="9BDCF1"/>
                </a:solidFill>
                <a:latin typeface="Arial"/>
                <a:ea typeface="Arial"/>
                <a:cs typeface="Arial"/>
              </a:rPr>
              <a:t>QUERY 4 • RETRIEVE FROM THE VIEW</a:t>
            </a:r>
          </a:p>
        </p:txBody>
      </p:sp>
      <p:sp>
        <p:nvSpPr>
          <p:cNvPr id="15" name="code-604-158">
            <a:extLst xmlns:a="http://schemas.openxmlformats.org/drawingml/2006/main">
              <a:ext uri="{FF2B5EF4-FFF2-40B4-BE49-F238E27FC236}">
                <a16:creationId xmlns:a16="http://schemas.microsoft.com/office/drawing/2014/main" id="{BD42B7F7-C8F2-405D-8413-D39A576BD3D4}"/>
              </a:ext>
            </a:extLst>
          </p:cNvPr>
          <p:cNvSpPr>
            <a:spLocks xmlns:a="http://schemas.openxmlformats.org/drawingml/2006/main" noGrp="1"/>
          </p:cNvSpPr>
          <p:nvPr/>
        </p:nvSpPr>
        <p:spPr>
          <a:xfrm xmlns:a="http://schemas.openxmlformats.org/drawingml/2006/main">
            <a:off x="5962650" y="1962150"/>
            <a:ext cx="550545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SELECT resource_title, category_name,</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average_rating,</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DATE_FORMAT(last_accessed_at,</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'%b %d, %Y') AS last_accessed</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FROM vw_resource_usage_summary</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WHERE average_rating &gt;= 4</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ORDER BY average_rating DESC,</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         last_accessed_at DESC</a:t>
            </a:r>
          </a:p>
          <a:p xmlns:a="http://schemas.openxmlformats.org/drawingml/2006/main">
            <a:pPr algn="l">
              <a:defRPr sz="1200" b="0">
                <a:solidFill>
                  <a:srgbClr val="FFFFFF"/>
                </a:solidFill>
                <a:latin typeface="Courier New"/>
                <a:ea typeface="Courier New"/>
                <a:cs typeface="Courier New"/>
              </a:defRPr>
            </a:pPr>
            <a:r>
              <a:rPr sz="1200" b="0">
                <a:solidFill>
                  <a:srgbClr val="FFFFFF"/>
                </a:solidFill>
                <a:latin typeface="Courier New"/>
                <a:ea typeface="Courier New"/>
                <a:cs typeface="Courier New"/>
              </a:rPr>
              <a:t>LIMIT 5;</a:t>
            </a:r>
          </a:p>
        </p:txBody>
      </p:sp>
      <p:graphicFrame>
        <p:nvGraphicFramePr>
          <p:cNvPr id="32" name=""/>
          <p:cNvGraphicFramePr/>
          <p:nvPr/>
        </p:nvGraphicFramePr>
        <p:xfrm>
          <a:off xmlns:a="http://schemas.openxmlformats.org/drawingml/2006/main" x="5753100" y="4572000"/>
          <a:ext xmlns:a="http://schemas.openxmlformats.org/drawingml/2006/main" cx="5924550" cy="1447800"/>
        </p:xfrm>
        <a:graphic xmlns:a="http://schemas.openxmlformats.org/drawingml/2006/main">
          <a:graphicData uri="http://schemas.openxmlformats.org/drawingml/2006/table">
            <a:tbl>
              <a:tblPr/>
              <a:tblGrid>
                <a:gridCol w="2228850"/>
                <a:gridCol w="1428750"/>
                <a:gridCol w="723900"/>
                <a:gridCol w="1543050"/>
              </a:tblGrid>
              <a:tr h="304800">
                <a:tc>
                  <a:txBody>
                    <a:bodyPr/>
                    <a:lstStyle/>
                    <a:p>
                      <a:r>
                        <a:rPr sz="1200" b="1">
                          <a:solidFill>
                            <a:srgbClr val="FFFFFF"/>
                          </a:solidFill>
                          <a:latin typeface="Arial"/>
                          <a:ea typeface="Arial"/>
                          <a:cs typeface="Arial"/>
                        </a:rPr>
                        <a:t>Resource</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Category</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Rating</a:t>
                      </a:r>
                    </a:p>
                  </a:txBody>
                  <a:tcPr marL="91440" marR="91440" marT="45720" marB="45720" anchor="ctr">
                    <a:solidFill>
                      <a:srgbClr val="15384E"/>
                    </a:solidFill>
                  </a:tcPr>
                </a:tc>
                <a:tc>
                  <a:txBody>
                    <a:bodyPr/>
                    <a:lstStyle/>
                    <a:p>
                      <a:r>
                        <a:rPr sz="1200" b="1">
                          <a:solidFill>
                            <a:srgbClr val="FFFFFF"/>
                          </a:solidFill>
                          <a:latin typeface="Arial"/>
                          <a:ea typeface="Arial"/>
                          <a:cs typeface="Arial"/>
                        </a:rPr>
                        <a:t>Last accessed</a:t>
                      </a:r>
                    </a:p>
                  </a:txBody>
                  <a:tcPr marL="91440" marR="91440" marT="45720" marB="45720" anchor="ctr">
                    <a:solidFill>
                      <a:srgbClr val="15384E"/>
                    </a:solidFill>
                  </a:tcPr>
                </a:tc>
              </a:tr>
              <a:tr h="0">
                <a:tc>
                  <a:txBody>
                    <a:bodyPr/>
                    <a:lstStyle/>
                    <a:p>
                      <a:r>
                        <a:rPr sz="1200" b="0">
                          <a:solidFill>
                            <a:srgbClr val="0E1720"/>
                          </a:solidFill>
                          <a:latin typeface="Arial"/>
                          <a:ea typeface="Arial"/>
                          <a:cs typeface="Arial"/>
                        </a:rPr>
                        <a:t>Chemistry Midterm</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Sample Exam</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5.0</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Jul 25, 2026</a:t>
                      </a:r>
                    </a:p>
                  </a:txBody>
                  <a:tcPr marL="91440" marR="91440" marT="45720" marB="45720" anchor="ctr">
                    <a:solidFill>
                      <a:srgbClr val="FFFFFF"/>
                    </a:solidFill>
                  </a:tcPr>
                </a:tc>
              </a:tr>
              <a:tr h="0">
                <a:tc>
                  <a:txBody>
                    <a:bodyPr/>
                    <a:lstStyle/>
                    <a:p>
                      <a:r>
                        <a:rPr sz="1200" b="0">
                          <a:solidFill>
                            <a:srgbClr val="0E1720"/>
                          </a:solidFill>
                          <a:latin typeface="Arial"/>
                          <a:ea typeface="Arial"/>
                          <a:cs typeface="Arial"/>
                        </a:rPr>
                        <a:t>Git &amp; GitHub</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Tutorial</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5.0</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Jul 20, 2026</a:t>
                      </a:r>
                    </a:p>
                  </a:txBody>
                  <a:tcPr marL="91440" marR="91440" marT="45720" marB="45720" anchor="ctr">
                    <a:solidFill>
                      <a:srgbClr val="F1F5F7"/>
                    </a:solidFill>
                  </a:tcPr>
                </a:tc>
              </a:tr>
              <a:tr h="0">
                <a:tc>
                  <a:txBody>
                    <a:bodyPr/>
                    <a:lstStyle/>
                    <a:p>
                      <a:r>
                        <a:rPr sz="1200" b="0">
                          <a:solidFill>
                            <a:srgbClr val="0E1720"/>
                          </a:solidFill>
                          <a:latin typeface="Arial"/>
                          <a:ea typeface="Arial"/>
                          <a:cs typeface="Arial"/>
                        </a:rPr>
                        <a:t>APA Citation</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Citation Guide</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5.0</a:t>
                      </a:r>
                    </a:p>
                  </a:txBody>
                  <a:tcPr marL="91440" marR="91440" marT="45720" marB="45720" anchor="ctr">
                    <a:solidFill>
                      <a:srgbClr val="FFFFFF"/>
                    </a:solidFill>
                  </a:tcPr>
                </a:tc>
                <a:tc>
                  <a:txBody>
                    <a:bodyPr/>
                    <a:lstStyle/>
                    <a:p>
                      <a:r>
                        <a:rPr sz="1200" b="0">
                          <a:solidFill>
                            <a:srgbClr val="0E1720"/>
                          </a:solidFill>
                          <a:latin typeface="Arial"/>
                          <a:ea typeface="Arial"/>
                          <a:cs typeface="Arial"/>
                        </a:rPr>
                        <a:t>Jul 15, 2026</a:t>
                      </a:r>
                    </a:p>
                  </a:txBody>
                  <a:tcPr marL="91440" marR="91440" marT="45720" marB="45720" anchor="ctr">
                    <a:solidFill>
                      <a:srgbClr val="FFFFFF"/>
                    </a:solidFill>
                  </a:tcPr>
                </a:tc>
              </a:tr>
              <a:tr h="0">
                <a:tc>
                  <a:txBody>
                    <a:bodyPr/>
                    <a:lstStyle/>
                    <a:p>
                      <a:r>
                        <a:rPr sz="1200" b="0">
                          <a:solidFill>
                            <a:srgbClr val="0E1720"/>
                          </a:solidFill>
                          <a:latin typeface="Arial"/>
                          <a:ea typeface="Arial"/>
                          <a:cs typeface="Arial"/>
                        </a:rPr>
                        <a:t>Civil Rights</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Primary Source</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5.0</a:t>
                      </a:r>
                    </a:p>
                  </a:txBody>
                  <a:tcPr marL="91440" marR="91440" marT="45720" marB="45720" anchor="ctr">
                    <a:solidFill>
                      <a:srgbClr val="F1F5F7"/>
                    </a:solidFill>
                  </a:tcPr>
                </a:tc>
                <a:tc>
                  <a:txBody>
                    <a:bodyPr/>
                    <a:lstStyle/>
                    <a:p>
                      <a:r>
                        <a:rPr sz="1200" b="0">
                          <a:solidFill>
                            <a:srgbClr val="0E1720"/>
                          </a:solidFill>
                          <a:latin typeface="Arial"/>
                          <a:ea typeface="Arial"/>
                          <a:cs typeface="Arial"/>
                        </a:rPr>
                        <a:t>Jul 12, 2026</a:t>
                      </a:r>
                    </a:p>
                  </a:txBody>
                  <a:tcPr marL="91440" marR="91440" marT="45720" marB="45720" anchor="ctr">
                    <a:solidFill>
                      <a:srgbClr val="F1F5F7"/>
                    </a:solidFill>
                  </a:tcPr>
                </a:tc>
              </a:tr>
            </a:tbl>
          </a:graphicData>
        </a:graphic>
      </p:graphicFrame>
    </p:spTree>
    <p:extLst>
      <p:ext uri="{BB962C8B-B14F-4D97-AF65-F5344CB8AC3E}">
        <p14:creationId xmlns:p14="http://schemas.microsoft.com/office/powerpoint/2010/main" val="3814772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eyebrow-8">
            <a:extLst xmlns:a="http://schemas.openxmlformats.org/drawingml/2006/main">
              <a:ext uri="{FF2B5EF4-FFF2-40B4-BE49-F238E27FC236}">
                <a16:creationId xmlns:a16="http://schemas.microsoft.com/office/drawing/2014/main" id="{5249F688-6DB3-4D43-B03D-FF2E9ABBC171}"/>
              </a:ext>
            </a:extLst>
          </p:cNvPr>
          <p:cNvSpPr>
            <a:spLocks xmlns:a="http://schemas.openxmlformats.org/drawingml/2006/main" noGrp="1"/>
          </p:cNvSpPr>
          <p:nvPr/>
        </p:nvSpPr>
        <p:spPr>
          <a:xfrm xmlns:a="http://schemas.openxmlformats.org/drawingml/2006/main">
            <a:off x="51435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defRPr sz="975" b="1">
                <a:solidFill>
                  <a:srgbClr val="2E8F91"/>
                </a:solidFill>
                <a:latin typeface="Arial"/>
                <a:ea typeface="Arial"/>
                <a:cs typeface="Arial"/>
              </a:defRPr>
            </a:pPr>
            <a:r>
              <a:rPr sz="975" b="1">
                <a:solidFill>
                  <a:srgbClr val="2E8F91"/>
                </a:solidFill>
                <a:latin typeface="Arial"/>
                <a:ea typeface="Arial"/>
                <a:cs typeface="Arial"/>
              </a:rPr>
              <a:t>LESSONS LEARNED + CHALLENGE</a:t>
            </a:r>
          </a:p>
        </p:txBody>
      </p:sp>
      <p:sp>
        <p:nvSpPr>
          <p:cNvPr id="2" name="title-8">
            <a:extLst xmlns:a="http://schemas.openxmlformats.org/drawingml/2006/main">
              <a:ext uri="{FF2B5EF4-FFF2-40B4-BE49-F238E27FC236}">
                <a16:creationId xmlns:a16="http://schemas.microsoft.com/office/drawing/2014/main" id="{27DAD332-920B-41CE-A264-DD31FD83D8C4}"/>
              </a:ext>
            </a:extLst>
          </p:cNvPr>
          <p:cNvSpPr>
            <a:spLocks xmlns:a="http://schemas.openxmlformats.org/drawingml/2006/main" noGrp="1"/>
          </p:cNvSpPr>
          <p:nvPr/>
        </p:nvSpPr>
        <p:spPr>
          <a:xfrm xmlns:a="http://schemas.openxmlformats.org/drawingml/2006/main">
            <a:off x="514350" y="571500"/>
            <a:ext cx="1116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0E1720"/>
                </a:solidFill>
                <a:latin typeface="Arial"/>
                <a:ea typeface="Arial"/>
                <a:cs typeface="Arial"/>
              </a:defRPr>
            </a:pPr>
            <a:r>
              <a:rPr sz="2850" b="1">
                <a:solidFill>
                  <a:srgbClr val="0E1720"/>
                </a:solidFill>
                <a:latin typeface="Arial"/>
                <a:ea typeface="Arial"/>
                <a:cs typeface="Arial"/>
              </a:rPr>
              <a:t>A many-to-many challenge became a design strength</a:t>
            </a:r>
          </a:p>
        </p:txBody>
      </p:sp>
      <p:sp>
        <p:nvSpPr>
          <p:cNvPr id="3" name="rule-54-128">
            <a:extLst xmlns:a="http://schemas.openxmlformats.org/drawingml/2006/main">
              <a:ext uri="{FF2B5EF4-FFF2-40B4-BE49-F238E27FC236}">
                <a16:creationId xmlns:a16="http://schemas.microsoft.com/office/drawing/2014/main" id="{09703AFB-5867-4CE2-9F9F-F4BC91BB338F}"/>
              </a:ext>
            </a:extLst>
          </p:cNvPr>
          <p:cNvSpPr>
            <a:spLocks xmlns:a="http://schemas.openxmlformats.org/drawingml/2006/main" noGrp="1"/>
          </p:cNvSpPr>
          <p:nvPr/>
        </p:nvSpPr>
        <p:spPr>
          <a:xfrm xmlns:a="http://schemas.openxmlformats.org/drawingml/2006/main">
            <a:off x="514350" y="1219200"/>
            <a:ext cx="111633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4" name="presenter-8">
            <a:extLst xmlns:a="http://schemas.openxmlformats.org/drawingml/2006/main">
              <a:ext uri="{FF2B5EF4-FFF2-40B4-BE49-F238E27FC236}">
                <a16:creationId xmlns:a16="http://schemas.microsoft.com/office/drawing/2014/main" id="{54BF0F98-D8EA-4E78-92D2-AC8B0F6864BF}"/>
              </a:ext>
            </a:extLst>
          </p:cNvPr>
          <p:cNvSpPr>
            <a:spLocks xmlns:a="http://schemas.openxmlformats.org/drawingml/2006/main" noGrp="1"/>
          </p:cNvSpPr>
          <p:nvPr/>
        </p:nvSpPr>
        <p:spPr>
          <a:xfrm xmlns:a="http://schemas.openxmlformats.org/drawingml/2006/main">
            <a:off x="514350" y="648652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F6F7C"/>
                </a:solidFill>
                <a:latin typeface="Arial"/>
                <a:ea typeface="Arial"/>
                <a:cs typeface="Arial"/>
              </a:defRPr>
            </a:pPr>
            <a:r>
              <a:rPr sz="900" b="1">
                <a:solidFill>
                  <a:srgbClr val="5F6F7C"/>
                </a:solidFill>
                <a:latin typeface="Arial"/>
                <a:ea typeface="Arial"/>
                <a:cs typeface="Arial"/>
              </a:rPr>
              <a:t>JOSE ANTONIO HORTA HERRERA</a:t>
            </a:r>
          </a:p>
        </p:txBody>
      </p:sp>
      <p:sp>
        <p:nvSpPr>
          <p:cNvPr id="5" name="slide-number-8">
            <a:extLst xmlns:a="http://schemas.openxmlformats.org/drawingml/2006/main">
              <a:ext uri="{FF2B5EF4-FFF2-40B4-BE49-F238E27FC236}">
                <a16:creationId xmlns:a16="http://schemas.microsoft.com/office/drawing/2014/main" id="{3F3CEFAF-2367-41AA-87FA-D911472B5494}"/>
              </a:ext>
            </a:extLst>
          </p:cNvPr>
          <p:cNvSpPr>
            <a:spLocks xmlns:a="http://schemas.openxmlformats.org/drawingml/2006/main" noGrp="1"/>
          </p:cNvSpPr>
          <p:nvPr/>
        </p:nvSpPr>
        <p:spPr>
          <a:xfrm xmlns:a="http://schemas.openxmlformats.org/drawingml/2006/main">
            <a:off x="1123950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F6F7C"/>
                </a:solidFill>
                <a:latin typeface="Arial"/>
                <a:ea typeface="Arial"/>
                <a:cs typeface="Arial"/>
              </a:defRPr>
            </a:pPr>
            <a:r>
              <a:rPr sz="900" b="0">
                <a:solidFill>
                  <a:srgbClr val="5F6F7C"/>
                </a:solidFill>
                <a:latin typeface="Arial"/>
                <a:ea typeface="Arial"/>
                <a:cs typeface="Arial"/>
              </a:rPr>
              <a:t>08</a:t>
            </a:r>
          </a:p>
        </p:txBody>
      </p:sp>
      <p:sp>
        <p:nvSpPr>
          <p:cNvPr id="6" name="challenge-kicker">
            <a:extLst xmlns:a="http://schemas.openxmlformats.org/drawingml/2006/main">
              <a:ext uri="{FF2B5EF4-FFF2-40B4-BE49-F238E27FC236}">
                <a16:creationId xmlns:a16="http://schemas.microsoft.com/office/drawing/2014/main" id="{F6A17912-B16A-4B56-BC49-5E44BD9EF266}"/>
              </a:ext>
            </a:extLst>
          </p:cNvPr>
          <p:cNvSpPr>
            <a:spLocks xmlns:a="http://schemas.openxmlformats.org/drawingml/2006/main" noGrp="1"/>
          </p:cNvSpPr>
          <p:nvPr/>
        </p:nvSpPr>
        <p:spPr>
          <a:xfrm xmlns:a="http://schemas.openxmlformats.org/drawingml/2006/main">
            <a:off x="552450" y="15621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E68000"/>
                </a:solidFill>
                <a:latin typeface="Arial"/>
                <a:ea typeface="Arial"/>
                <a:cs typeface="Arial"/>
              </a:defRPr>
            </a:pPr>
            <a:r>
              <a:rPr sz="1050" b="1">
                <a:solidFill>
                  <a:srgbClr val="E68000"/>
                </a:solidFill>
                <a:latin typeface="Arial"/>
                <a:ea typeface="Arial"/>
                <a:cs typeface="Arial"/>
              </a:rPr>
              <a:t>CHALLENGE</a:t>
            </a:r>
          </a:p>
        </p:txBody>
      </p:sp>
      <p:sp>
        <p:nvSpPr>
          <p:cNvPr id="7" name="challenge-title">
            <a:extLst xmlns:a="http://schemas.openxmlformats.org/drawingml/2006/main">
              <a:ext uri="{FF2B5EF4-FFF2-40B4-BE49-F238E27FC236}">
                <a16:creationId xmlns:a16="http://schemas.microsoft.com/office/drawing/2014/main" id="{099BF0A0-3573-4D61-A651-0C61178C5337}"/>
              </a:ext>
            </a:extLst>
          </p:cNvPr>
          <p:cNvSpPr>
            <a:spLocks xmlns:a="http://schemas.openxmlformats.org/drawingml/2006/main" noGrp="1"/>
          </p:cNvSpPr>
          <p:nvPr/>
        </p:nvSpPr>
        <p:spPr>
          <a:xfrm xmlns:a="http://schemas.openxmlformats.org/drawingml/2006/main">
            <a:off x="552450" y="194310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38"/>
          </a:bodyPr>
          <a:lstStyle xmlns:a="http://schemas.openxmlformats.org/drawingml/2006/main"/>
          <a:p xmlns:a="http://schemas.openxmlformats.org/drawingml/2006/main">
            <a:pPr algn="l">
              <a:defRPr sz="2250" b="1">
                <a:solidFill>
                  <a:srgbClr val="0E1720"/>
                </a:solidFill>
                <a:latin typeface="Arial"/>
                <a:ea typeface="Arial"/>
                <a:cs typeface="Arial"/>
              </a:defRPr>
            </a:pPr>
            <a:r>
              <a:rPr sz="2250" b="1">
                <a:solidFill>
                  <a:srgbClr val="0E1720"/>
                </a:solidFill>
                <a:latin typeface="Arial"/>
                <a:ea typeface="Arial"/>
                <a:cs typeface="Arial"/>
              </a:rPr>
              <a:t>Courses ↔ Resources is many-to-many</a:t>
            </a:r>
          </a:p>
        </p:txBody>
      </p:sp>
      <p:sp>
        <p:nvSpPr>
          <p:cNvPr id="8" name="challenge-copy">
            <a:extLst xmlns:a="http://schemas.openxmlformats.org/drawingml/2006/main">
              <a:ext uri="{FF2B5EF4-FFF2-40B4-BE49-F238E27FC236}">
                <a16:creationId xmlns:a16="http://schemas.microsoft.com/office/drawing/2014/main" id="{AC1C2648-9715-4281-8511-357B7FE46B90}"/>
              </a:ext>
            </a:extLst>
          </p:cNvPr>
          <p:cNvSpPr>
            <a:spLocks xmlns:a="http://schemas.openxmlformats.org/drawingml/2006/main" noGrp="1"/>
          </p:cNvSpPr>
          <p:nvPr/>
        </p:nvSpPr>
        <p:spPr>
          <a:xfrm xmlns:a="http://schemas.openxmlformats.org/drawingml/2006/main">
            <a:off x="552450" y="2800350"/>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5F6F7C"/>
                </a:solidFill>
                <a:latin typeface="Arial"/>
                <a:ea typeface="Arial"/>
                <a:cs typeface="Arial"/>
              </a:defRPr>
            </a:pPr>
            <a:r>
              <a:rPr sz="1575" b="0">
                <a:solidFill>
                  <a:srgbClr val="5F6F7C"/>
                </a:solidFill>
                <a:latin typeface="Arial"/>
                <a:ea typeface="Arial"/>
                <a:cs typeface="Arial"/>
              </a:rPr>
              <a:t>Storing lists of resource IDs inside Courses would violate 1NF and create duplicate or inconsistent data.</a:t>
            </a:r>
          </a:p>
        </p:txBody>
      </p:sp>
      <p:sp>
        <p:nvSpPr>
          <p:cNvPr id="9" name="solution-panel">
            <a:extLst xmlns:a="http://schemas.openxmlformats.org/drawingml/2006/main">
              <a:ext uri="{FF2B5EF4-FFF2-40B4-BE49-F238E27FC236}">
                <a16:creationId xmlns:a16="http://schemas.microsoft.com/office/drawing/2014/main" id="{BACE55CB-12B1-47DA-9D40-99B8A0DEBF3C}"/>
              </a:ext>
            </a:extLst>
          </p:cNvPr>
          <p:cNvSpPr>
            <a:spLocks xmlns:a="http://schemas.openxmlformats.org/drawingml/2006/main" noGrp="1"/>
          </p:cNvSpPr>
          <p:nvPr/>
        </p:nvSpPr>
        <p:spPr>
          <a:xfrm xmlns:a="http://schemas.openxmlformats.org/drawingml/2006/main">
            <a:off x="552450" y="3943350"/>
            <a:ext cx="4762500" cy="1695450"/>
          </a:xfrm>
          <a:prstGeom xmlns:a="http://schemas.openxmlformats.org/drawingml/2006/main" prst="rect">
            <a:avLst/>
          </a:prstGeom>
          <a:solidFill xmlns:a="http://schemas.openxmlformats.org/drawingml/2006/main">
            <a:srgbClr val="15384E"/>
          </a:solidFill>
          <a:ln xmlns:a="http://schemas.openxmlformats.org/drawingml/2006/main" w="0">
            <a:noFill/>
            <a:prstDash val="solid"/>
          </a:ln>
        </p:spPr>
      </p:sp>
      <p:sp>
        <p:nvSpPr>
          <p:cNvPr id="10" name="solution-label">
            <a:extLst xmlns:a="http://schemas.openxmlformats.org/drawingml/2006/main">
              <a:ext uri="{FF2B5EF4-FFF2-40B4-BE49-F238E27FC236}">
                <a16:creationId xmlns:a16="http://schemas.microsoft.com/office/drawing/2014/main" id="{8A8A8CEF-F4D3-42C2-AA8D-D497E5CDEF3B}"/>
              </a:ext>
            </a:extLst>
          </p:cNvPr>
          <p:cNvSpPr>
            <a:spLocks xmlns:a="http://schemas.openxmlformats.org/drawingml/2006/main" noGrp="1"/>
          </p:cNvSpPr>
          <p:nvPr/>
        </p:nvSpPr>
        <p:spPr>
          <a:xfrm xmlns:a="http://schemas.openxmlformats.org/drawingml/2006/main">
            <a:off x="800100" y="4171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9BDCF1"/>
                </a:solidFill>
                <a:latin typeface="Arial"/>
                <a:ea typeface="Arial"/>
                <a:cs typeface="Arial"/>
              </a:defRPr>
            </a:pPr>
            <a:r>
              <a:rPr sz="1050" b="1">
                <a:solidFill>
                  <a:srgbClr val="9BDCF1"/>
                </a:solidFill>
                <a:latin typeface="Arial"/>
                <a:ea typeface="Arial"/>
                <a:cs typeface="Arial"/>
              </a:rPr>
              <a:t>SOLUTION</a:t>
            </a:r>
          </a:p>
        </p:txBody>
      </p:sp>
      <p:sp>
        <p:nvSpPr>
          <p:cNvPr id="11" name="solution-copy">
            <a:extLst xmlns:a="http://schemas.openxmlformats.org/drawingml/2006/main">
              <a:ext uri="{FF2B5EF4-FFF2-40B4-BE49-F238E27FC236}">
                <a16:creationId xmlns:a16="http://schemas.microsoft.com/office/drawing/2014/main" id="{8D5FEAB7-D254-498B-AD14-3FA36EFAE1A6}"/>
              </a:ext>
            </a:extLst>
          </p:cNvPr>
          <p:cNvSpPr>
            <a:spLocks xmlns:a="http://schemas.openxmlformats.org/drawingml/2006/main" noGrp="1"/>
          </p:cNvSpPr>
          <p:nvPr/>
        </p:nvSpPr>
        <p:spPr>
          <a:xfrm xmlns:a="http://schemas.openxmlformats.org/drawingml/2006/main">
            <a:off x="800100" y="4552950"/>
            <a:ext cx="4267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Course_Resources creates one row per assignment and safely stores is_required, week_number, notes, and assigned_on.</a:t>
            </a:r>
          </a:p>
        </p:txBody>
      </p:sp>
      <p:sp>
        <p:nvSpPr>
          <p:cNvPr id="12" name="rule-630-170">
            <a:extLst xmlns:a="http://schemas.openxmlformats.org/drawingml/2006/main">
              <a:ext uri="{FF2B5EF4-FFF2-40B4-BE49-F238E27FC236}">
                <a16:creationId xmlns:a16="http://schemas.microsoft.com/office/drawing/2014/main" id="{C1B93728-ABE6-4A78-8A85-8107CD64CEC8}"/>
              </a:ext>
            </a:extLst>
          </p:cNvPr>
          <p:cNvSpPr>
            <a:spLocks xmlns:a="http://schemas.openxmlformats.org/drawingml/2006/main" noGrp="1"/>
          </p:cNvSpPr>
          <p:nvPr/>
        </p:nvSpPr>
        <p:spPr>
          <a:xfrm xmlns:a="http://schemas.openxmlformats.org/drawingml/2006/main">
            <a:off x="6000750" y="1619250"/>
            <a:ext cx="9525" cy="4095750"/>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13" name="lesson-heading-0">
            <a:extLst xmlns:a="http://schemas.openxmlformats.org/drawingml/2006/main">
              <a:ext uri="{FF2B5EF4-FFF2-40B4-BE49-F238E27FC236}">
                <a16:creationId xmlns:a16="http://schemas.microsoft.com/office/drawing/2014/main" id="{DFD33BDF-187A-40DD-98FB-0C13518BF44F}"/>
              </a:ext>
            </a:extLst>
          </p:cNvPr>
          <p:cNvSpPr>
            <a:spLocks xmlns:a="http://schemas.openxmlformats.org/drawingml/2006/main" noGrp="1"/>
          </p:cNvSpPr>
          <p:nvPr/>
        </p:nvSpPr>
        <p:spPr>
          <a:xfrm xmlns:a="http://schemas.openxmlformats.org/drawingml/2006/main">
            <a:off x="6438900" y="169545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E1720"/>
                </a:solidFill>
                <a:latin typeface="Arial"/>
                <a:ea typeface="Arial"/>
                <a:cs typeface="Arial"/>
              </a:defRPr>
            </a:pPr>
            <a:r>
              <a:rPr sz="1800" b="1">
                <a:solidFill>
                  <a:srgbClr val="0E1720"/>
                </a:solidFill>
                <a:latin typeface="Arial"/>
                <a:ea typeface="Arial"/>
                <a:cs typeface="Arial"/>
              </a:rPr>
              <a:t>Normalization</a:t>
            </a:r>
          </a:p>
        </p:txBody>
      </p:sp>
      <p:sp>
        <p:nvSpPr>
          <p:cNvPr id="14" name="lesson-copy-0">
            <a:extLst xmlns:a="http://schemas.openxmlformats.org/drawingml/2006/main">
              <a:ext uri="{FF2B5EF4-FFF2-40B4-BE49-F238E27FC236}">
                <a16:creationId xmlns:a16="http://schemas.microsoft.com/office/drawing/2014/main" id="{B3B0D508-8970-4927-A899-3674F6AFB73E}"/>
              </a:ext>
            </a:extLst>
          </p:cNvPr>
          <p:cNvSpPr>
            <a:spLocks xmlns:a="http://schemas.openxmlformats.org/drawingml/2006/main" noGrp="1"/>
          </p:cNvSpPr>
          <p:nvPr/>
        </p:nvSpPr>
        <p:spPr>
          <a:xfrm xmlns:a="http://schemas.openxmlformats.org/drawingml/2006/main">
            <a:off x="6438900" y="2190750"/>
            <a:ext cx="23241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F7C"/>
                </a:solidFill>
                <a:latin typeface="Arial"/>
                <a:ea typeface="Arial"/>
                <a:cs typeface="Arial"/>
              </a:defRPr>
            </a:pPr>
            <a:r>
              <a:rPr sz="1350" b="0">
                <a:solidFill>
                  <a:srgbClr val="5F6F7C"/>
                </a:solidFill>
                <a:latin typeface="Arial"/>
                <a:ea typeface="Arial"/>
                <a:cs typeface="Arial"/>
              </a:rPr>
              <a:t>3NF keeps instructor and category details in one authoritative place.</a:t>
            </a:r>
          </a:p>
        </p:txBody>
      </p:sp>
      <p:sp>
        <p:nvSpPr>
          <p:cNvPr id="15" name="rule-676-352">
            <a:extLst xmlns:a="http://schemas.openxmlformats.org/drawingml/2006/main">
              <a:ext uri="{FF2B5EF4-FFF2-40B4-BE49-F238E27FC236}">
                <a16:creationId xmlns:a16="http://schemas.microsoft.com/office/drawing/2014/main" id="{94DDEA03-489C-42AB-ACB4-0C598E17A661}"/>
              </a:ext>
            </a:extLst>
          </p:cNvPr>
          <p:cNvSpPr>
            <a:spLocks xmlns:a="http://schemas.openxmlformats.org/drawingml/2006/main" noGrp="1"/>
          </p:cNvSpPr>
          <p:nvPr/>
        </p:nvSpPr>
        <p:spPr>
          <a:xfrm xmlns:a="http://schemas.openxmlformats.org/drawingml/2006/main">
            <a:off x="6438900" y="3352800"/>
            <a:ext cx="23241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16" name="lesson-heading-1">
            <a:extLst xmlns:a="http://schemas.openxmlformats.org/drawingml/2006/main">
              <a:ext uri="{FF2B5EF4-FFF2-40B4-BE49-F238E27FC236}">
                <a16:creationId xmlns:a16="http://schemas.microsoft.com/office/drawing/2014/main" id="{30BCE390-CF7E-42CB-8F1C-99178819088B}"/>
              </a:ext>
            </a:extLst>
          </p:cNvPr>
          <p:cNvSpPr>
            <a:spLocks xmlns:a="http://schemas.openxmlformats.org/drawingml/2006/main" noGrp="1"/>
          </p:cNvSpPr>
          <p:nvPr/>
        </p:nvSpPr>
        <p:spPr>
          <a:xfrm xmlns:a="http://schemas.openxmlformats.org/drawingml/2006/main">
            <a:off x="9058275" y="169545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E1720"/>
                </a:solidFill>
                <a:latin typeface="Arial"/>
                <a:ea typeface="Arial"/>
                <a:cs typeface="Arial"/>
              </a:defRPr>
            </a:pPr>
            <a:r>
              <a:rPr sz="1800" b="1">
                <a:solidFill>
                  <a:srgbClr val="0E1720"/>
                </a:solidFill>
                <a:latin typeface="Arial"/>
                <a:ea typeface="Arial"/>
                <a:cs typeface="Arial"/>
              </a:rPr>
              <a:t>Keys + JOINs</a:t>
            </a:r>
          </a:p>
        </p:txBody>
      </p:sp>
      <p:sp>
        <p:nvSpPr>
          <p:cNvPr id="17" name="lesson-copy-1">
            <a:extLst xmlns:a="http://schemas.openxmlformats.org/drawingml/2006/main">
              <a:ext uri="{FF2B5EF4-FFF2-40B4-BE49-F238E27FC236}">
                <a16:creationId xmlns:a16="http://schemas.microsoft.com/office/drawing/2014/main" id="{A216F21E-0157-4EFD-B1EB-CD85633FDE9A}"/>
              </a:ext>
            </a:extLst>
          </p:cNvPr>
          <p:cNvSpPr>
            <a:spLocks xmlns:a="http://schemas.openxmlformats.org/drawingml/2006/main" noGrp="1"/>
          </p:cNvSpPr>
          <p:nvPr/>
        </p:nvSpPr>
        <p:spPr>
          <a:xfrm xmlns:a="http://schemas.openxmlformats.org/drawingml/2006/main">
            <a:off x="9058275" y="2190750"/>
            <a:ext cx="23241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F7C"/>
                </a:solidFill>
                <a:latin typeface="Arial"/>
                <a:ea typeface="Arial"/>
                <a:cs typeface="Arial"/>
              </a:defRPr>
            </a:pPr>
            <a:r>
              <a:rPr sz="1350" b="0">
                <a:solidFill>
                  <a:srgbClr val="5F6F7C"/>
                </a:solidFill>
                <a:latin typeface="Arial"/>
                <a:ea typeface="Arial"/>
                <a:cs typeface="Arial"/>
              </a:rPr>
              <a:t>Primary and foreign keys protect integrity and create reliable relationship paths.</a:t>
            </a:r>
          </a:p>
        </p:txBody>
      </p:sp>
      <p:sp>
        <p:nvSpPr>
          <p:cNvPr id="18" name="rule-951-352">
            <a:extLst xmlns:a="http://schemas.openxmlformats.org/drawingml/2006/main">
              <a:ext uri="{FF2B5EF4-FFF2-40B4-BE49-F238E27FC236}">
                <a16:creationId xmlns:a16="http://schemas.microsoft.com/office/drawing/2014/main" id="{5901334E-8C97-4FE4-ADA0-A0BCE8DA91EF}"/>
              </a:ext>
            </a:extLst>
          </p:cNvPr>
          <p:cNvSpPr>
            <a:spLocks xmlns:a="http://schemas.openxmlformats.org/drawingml/2006/main" noGrp="1"/>
          </p:cNvSpPr>
          <p:nvPr/>
        </p:nvSpPr>
        <p:spPr>
          <a:xfrm xmlns:a="http://schemas.openxmlformats.org/drawingml/2006/main">
            <a:off x="9058275" y="3352800"/>
            <a:ext cx="2324100" cy="9525"/>
          </a:xfrm>
          <a:prstGeom xmlns:a="http://schemas.openxmlformats.org/drawingml/2006/main" prst="rect">
            <a:avLst/>
          </a:prstGeom>
          <a:solidFill xmlns:a="http://schemas.openxmlformats.org/drawingml/2006/main">
            <a:srgbClr val="C8D3DB"/>
          </a:solidFill>
          <a:ln xmlns:a="http://schemas.openxmlformats.org/drawingml/2006/main" w="0">
            <a:noFill/>
            <a:prstDash val="solid"/>
          </a:ln>
        </p:spPr>
      </p:sp>
      <p:sp>
        <p:nvSpPr>
          <p:cNvPr id="19" name="lesson-heading-2">
            <a:extLst xmlns:a="http://schemas.openxmlformats.org/drawingml/2006/main">
              <a:ext uri="{FF2B5EF4-FFF2-40B4-BE49-F238E27FC236}">
                <a16:creationId xmlns:a16="http://schemas.microsoft.com/office/drawing/2014/main" id="{77FFC9A1-F016-4B14-A41B-A658FC3A3B66}"/>
              </a:ext>
            </a:extLst>
          </p:cNvPr>
          <p:cNvSpPr>
            <a:spLocks xmlns:a="http://schemas.openxmlformats.org/drawingml/2006/main" noGrp="1"/>
          </p:cNvSpPr>
          <p:nvPr/>
        </p:nvSpPr>
        <p:spPr>
          <a:xfrm xmlns:a="http://schemas.openxmlformats.org/drawingml/2006/main">
            <a:off x="6438900" y="3648075"/>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0E1720"/>
                </a:solidFill>
                <a:latin typeface="Arial"/>
                <a:ea typeface="Arial"/>
                <a:cs typeface="Arial"/>
              </a:defRPr>
            </a:pPr>
            <a:r>
              <a:rPr sz="1800" b="1">
                <a:solidFill>
                  <a:srgbClr val="0E1720"/>
                </a:solidFill>
                <a:latin typeface="Arial"/>
                <a:ea typeface="Arial"/>
                <a:cs typeface="Arial"/>
              </a:rPr>
              <a:t>Views</a:t>
            </a:r>
          </a:p>
        </p:txBody>
      </p:sp>
      <p:sp>
        <p:nvSpPr>
          <p:cNvPr id="20" name="lesson-copy-2">
            <a:extLst xmlns:a="http://schemas.openxmlformats.org/drawingml/2006/main">
              <a:ext uri="{FF2B5EF4-FFF2-40B4-BE49-F238E27FC236}">
                <a16:creationId xmlns:a16="http://schemas.microsoft.com/office/drawing/2014/main" id="{B902FF04-CE12-447C-96B6-AC5C6E331EC4}"/>
              </a:ext>
            </a:extLst>
          </p:cNvPr>
          <p:cNvSpPr>
            <a:spLocks xmlns:a="http://schemas.openxmlformats.org/drawingml/2006/main" noGrp="1"/>
          </p:cNvSpPr>
          <p:nvPr/>
        </p:nvSpPr>
        <p:spPr>
          <a:xfrm xmlns:a="http://schemas.openxmlformats.org/drawingml/2006/main">
            <a:off x="6438900" y="4143375"/>
            <a:ext cx="23241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F7C"/>
                </a:solidFill>
                <a:latin typeface="Arial"/>
                <a:ea typeface="Arial"/>
                <a:cs typeface="Arial"/>
              </a:defRPr>
            </a:pPr>
            <a:r>
              <a:rPr sz="1350" b="0">
                <a:solidFill>
                  <a:srgbClr val="5F6F7C"/>
                </a:solidFill>
                <a:latin typeface="Arial"/>
                <a:ea typeface="Arial"/>
                <a:cs typeface="Arial"/>
              </a:rPr>
              <a:t>A view packages complicated reporting logic into a simpler, reusable interface.</a:t>
            </a:r>
          </a:p>
        </p:txBody>
      </p:sp>
      <p:sp>
        <p:nvSpPr>
          <p:cNvPr id="21" name="lesson-heading-3">
            <a:extLst xmlns:a="http://schemas.openxmlformats.org/drawingml/2006/main">
              <a:ext uri="{FF2B5EF4-FFF2-40B4-BE49-F238E27FC236}">
                <a16:creationId xmlns:a16="http://schemas.microsoft.com/office/drawing/2014/main" id="{AB06D20F-64C5-4983-A8E5-BFA19AC110B4}"/>
              </a:ext>
            </a:extLst>
          </p:cNvPr>
          <p:cNvSpPr>
            <a:spLocks xmlns:a="http://schemas.openxmlformats.org/drawingml/2006/main" noGrp="1"/>
          </p:cNvSpPr>
          <p:nvPr/>
        </p:nvSpPr>
        <p:spPr>
          <a:xfrm xmlns:a="http://schemas.openxmlformats.org/drawingml/2006/main">
            <a:off x="9058275" y="3648075"/>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2F78F6"/>
                </a:solidFill>
                <a:latin typeface="Arial"/>
                <a:ea typeface="Arial"/>
                <a:cs typeface="Arial"/>
              </a:defRPr>
            </a:pPr>
            <a:r>
              <a:rPr sz="1800" b="1">
                <a:solidFill>
                  <a:srgbClr val="2F78F6"/>
                </a:solidFill>
                <a:latin typeface="Arial"/>
                <a:ea typeface="Arial"/>
                <a:cs typeface="Arial"/>
              </a:rPr>
              <a:t>Indexes</a:t>
            </a:r>
          </a:p>
        </p:txBody>
      </p:sp>
      <p:sp>
        <p:nvSpPr>
          <p:cNvPr id="22" name="lesson-copy-3">
            <a:extLst xmlns:a="http://schemas.openxmlformats.org/drawingml/2006/main">
              <a:ext uri="{FF2B5EF4-FFF2-40B4-BE49-F238E27FC236}">
                <a16:creationId xmlns:a16="http://schemas.microsoft.com/office/drawing/2014/main" id="{852BF627-6458-4B2E-AF25-8467D3FEE79E}"/>
              </a:ext>
            </a:extLst>
          </p:cNvPr>
          <p:cNvSpPr>
            <a:spLocks xmlns:a="http://schemas.openxmlformats.org/drawingml/2006/main" noGrp="1"/>
          </p:cNvSpPr>
          <p:nvPr/>
        </p:nvSpPr>
        <p:spPr>
          <a:xfrm xmlns:a="http://schemas.openxmlformats.org/drawingml/2006/main">
            <a:off x="9058275" y="4143375"/>
            <a:ext cx="23241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F7C"/>
                </a:solidFill>
                <a:latin typeface="Arial"/>
                <a:ea typeface="Arial"/>
                <a:cs typeface="Arial"/>
              </a:defRPr>
            </a:pPr>
            <a:r>
              <a:rPr sz="1350" b="0">
                <a:solidFill>
                  <a:srgbClr val="5F6F7C"/>
                </a:solidFill>
                <a:latin typeface="Arial"/>
                <a:ea typeface="Arial"/>
                <a:cs typeface="Arial"/>
              </a:rPr>
              <a:t>Six targeted indexes support common filters, joins, and chronological reports.</a:t>
            </a:r>
          </a:p>
        </p:txBody>
      </p:sp>
    </p:spTree>
    <p:extLst>
      <p:ext uri="{BB962C8B-B14F-4D97-AF65-F5344CB8AC3E}">
        <p14:creationId xmlns:p14="http://schemas.microsoft.com/office/powerpoint/2010/main" val="1113540865"/>
      </p:ext>
    </p:extLst>
  </p:cSld>
</p:sld>
</file>

<file path=ppt/slides/slide9.xml><?xml version="1.0" encoding="utf-8"?>
<p:sld xmlns:p="http://schemas.openxmlformats.org/presentationml/2006/main">
  <p:cSld>
    <p:bg>
      <p:bgPr>
        <a:solidFill xmlns:a="http://schemas.openxmlformats.org/drawingml/2006/main">
          <a:srgbClr val="15384E"/>
        </a:solidFill>
      </p:bgPr>
    </p:bg>
    <p:spTree>
      <p:nvGrpSpPr>
        <p:cNvPr id="1" name=""/>
        <p:cNvGrpSpPr/>
        <p:nvPr/>
      </p:nvGrpSpPr>
      <p:grpSpPr>
        <a:xfrm xmlns:a="http://schemas.openxmlformats.org/drawingml/2006/main"/>
      </p:grpSpPr>
      <p:sp>
        <p:nvSpPr>
          <p:cNvPr id="16" name="close-kicker">
            <a:extLst xmlns:a="http://schemas.openxmlformats.org/drawingml/2006/main">
              <a:ext uri="{FF2B5EF4-FFF2-40B4-BE49-F238E27FC236}">
                <a16:creationId xmlns:a16="http://schemas.microsoft.com/office/drawing/2014/main" id="{7E227185-7FE7-4B1E-86E8-0752BFD4BA92}"/>
              </a:ext>
            </a:extLst>
          </p:cNvPr>
          <p:cNvSpPr>
            <a:spLocks xmlns:a="http://schemas.openxmlformats.org/drawingml/2006/main" noGrp="1"/>
          </p:cNvSpPr>
          <p:nvPr/>
        </p:nvSpPr>
        <p:spPr>
          <a:xfrm xmlns:a="http://schemas.openxmlformats.org/drawingml/2006/main">
            <a:off x="552450" y="4762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9BDCF1"/>
                </a:solidFill>
                <a:latin typeface="Arial"/>
                <a:ea typeface="Arial"/>
                <a:cs typeface="Arial"/>
              </a:defRPr>
            </a:pPr>
            <a:r>
              <a:rPr sz="1200" b="1">
                <a:solidFill>
                  <a:srgbClr val="9BDCF1"/>
                </a:solidFill>
                <a:latin typeface="Arial"/>
                <a:ea typeface="Arial"/>
                <a:cs typeface="Arial"/>
              </a:rPr>
              <a:t>PROJECT OUTCOME</a:t>
            </a:r>
          </a:p>
        </p:txBody>
      </p:sp>
      <p:sp>
        <p:nvSpPr>
          <p:cNvPr id="2" name="close-title">
            <a:extLst xmlns:a="http://schemas.openxmlformats.org/drawingml/2006/main">
              <a:ext uri="{FF2B5EF4-FFF2-40B4-BE49-F238E27FC236}">
                <a16:creationId xmlns:a16="http://schemas.microsoft.com/office/drawing/2014/main" id="{9411D7C4-1EE5-417D-9243-F1D7E242F8CA}"/>
              </a:ext>
            </a:extLst>
          </p:cNvPr>
          <p:cNvSpPr>
            <a:spLocks xmlns:a="http://schemas.openxmlformats.org/drawingml/2006/main" noGrp="1"/>
          </p:cNvSpPr>
          <p:nvPr/>
        </p:nvSpPr>
        <p:spPr>
          <a:xfrm xmlns:a="http://schemas.openxmlformats.org/drawingml/2006/main">
            <a:off x="552450" y="1219200"/>
            <a:ext cx="9048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825" b="1">
                <a:solidFill>
                  <a:srgbClr val="FFFFFF"/>
                </a:solidFill>
                <a:latin typeface="Arial"/>
                <a:ea typeface="Arial"/>
                <a:cs typeface="Arial"/>
              </a:defRPr>
            </a:pPr>
            <a:r>
              <a:rPr sz="3825" b="1">
                <a:solidFill>
                  <a:srgbClr val="FFFFFF"/>
                </a:solidFill>
                <a:latin typeface="Arial"/>
                <a:ea typeface="Arial"/>
                <a:cs typeface="Arial"/>
              </a:rPr>
              <a:t>One normalized model now supports discovery, assignment, and reporting</a:t>
            </a:r>
          </a:p>
        </p:txBody>
      </p:sp>
      <p:sp>
        <p:nvSpPr>
          <p:cNvPr id="3" name="rule-58-350">
            <a:extLst xmlns:a="http://schemas.openxmlformats.org/drawingml/2006/main">
              <a:ext uri="{FF2B5EF4-FFF2-40B4-BE49-F238E27FC236}">
                <a16:creationId xmlns:a16="http://schemas.microsoft.com/office/drawing/2014/main" id="{6A773137-79B3-4295-B238-14101CDC01E3}"/>
              </a:ext>
            </a:extLst>
          </p:cNvPr>
          <p:cNvSpPr>
            <a:spLocks xmlns:a="http://schemas.openxmlformats.org/drawingml/2006/main" noGrp="1"/>
          </p:cNvSpPr>
          <p:nvPr/>
        </p:nvSpPr>
        <p:spPr>
          <a:xfrm xmlns:a="http://schemas.openxmlformats.org/drawingml/2006/main">
            <a:off x="552450" y="3333750"/>
            <a:ext cx="11087100" cy="9525"/>
          </a:xfrm>
          <a:prstGeom xmlns:a="http://schemas.openxmlformats.org/drawingml/2006/main" prst="rect">
            <a:avLst/>
          </a:prstGeom>
          <a:solidFill xmlns:a="http://schemas.openxmlformats.org/drawingml/2006/main">
            <a:srgbClr val="587284"/>
          </a:solidFill>
          <a:ln xmlns:a="http://schemas.openxmlformats.org/drawingml/2006/main" w="0">
            <a:noFill/>
            <a:prstDash val="solid"/>
          </a:ln>
        </p:spPr>
      </p:sp>
      <p:sp>
        <p:nvSpPr>
          <p:cNvPr id="4" name="close-value-0">
            <a:extLst xmlns:a="http://schemas.openxmlformats.org/drawingml/2006/main">
              <a:ext uri="{FF2B5EF4-FFF2-40B4-BE49-F238E27FC236}">
                <a16:creationId xmlns:a16="http://schemas.microsoft.com/office/drawing/2014/main" id="{AC9D654A-055A-4CF5-9967-71BD07CA07E6}"/>
              </a:ext>
            </a:extLst>
          </p:cNvPr>
          <p:cNvSpPr>
            <a:spLocks xmlns:a="http://schemas.openxmlformats.org/drawingml/2006/main" noGrp="1"/>
          </p:cNvSpPr>
          <p:nvPr/>
        </p:nvSpPr>
        <p:spPr>
          <a:xfrm xmlns:a="http://schemas.openxmlformats.org/drawingml/2006/main">
            <a:off x="552450" y="3733800"/>
            <a:ext cx="1714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6</a:t>
            </a:r>
          </a:p>
        </p:txBody>
      </p:sp>
      <p:sp>
        <p:nvSpPr>
          <p:cNvPr id="5" name="close-label-0">
            <a:extLst xmlns:a="http://schemas.openxmlformats.org/drawingml/2006/main">
              <a:ext uri="{FF2B5EF4-FFF2-40B4-BE49-F238E27FC236}">
                <a16:creationId xmlns:a16="http://schemas.microsoft.com/office/drawing/2014/main" id="{20B09F92-C6E5-49A1-B34C-0418FA6EB5D4}"/>
              </a:ext>
            </a:extLst>
          </p:cNvPr>
          <p:cNvSpPr>
            <a:spLocks xmlns:a="http://schemas.openxmlformats.org/drawingml/2006/main" noGrp="1"/>
          </p:cNvSpPr>
          <p:nvPr/>
        </p:nvSpPr>
        <p:spPr>
          <a:xfrm xmlns:a="http://schemas.openxmlformats.org/drawingml/2006/main">
            <a:off x="552450" y="4476750"/>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BFD0DA"/>
                </a:solidFill>
                <a:latin typeface="Arial"/>
                <a:ea typeface="Arial"/>
                <a:cs typeface="Arial"/>
              </a:defRPr>
            </a:pPr>
            <a:r>
              <a:rPr sz="1350" b="0">
                <a:solidFill>
                  <a:srgbClr val="BFD0DA"/>
                </a:solidFill>
                <a:latin typeface="Arial"/>
                <a:ea typeface="Arial"/>
                <a:cs typeface="Arial"/>
              </a:rPr>
              <a:t>normalized tables</a:t>
            </a:r>
          </a:p>
        </p:txBody>
      </p:sp>
      <p:sp>
        <p:nvSpPr>
          <p:cNvPr id="6" name="close-value-1">
            <a:extLst xmlns:a="http://schemas.openxmlformats.org/drawingml/2006/main">
              <a:ext uri="{FF2B5EF4-FFF2-40B4-BE49-F238E27FC236}">
                <a16:creationId xmlns:a16="http://schemas.microsoft.com/office/drawing/2014/main" id="{911BA6B7-59C0-49C6-80F4-49D92E323B07}"/>
              </a:ext>
            </a:extLst>
          </p:cNvPr>
          <p:cNvSpPr>
            <a:spLocks xmlns:a="http://schemas.openxmlformats.org/drawingml/2006/main" noGrp="1"/>
          </p:cNvSpPr>
          <p:nvPr/>
        </p:nvSpPr>
        <p:spPr>
          <a:xfrm xmlns:a="http://schemas.openxmlformats.org/drawingml/2006/main">
            <a:off x="3124200" y="3733800"/>
            <a:ext cx="1714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9BDCF1"/>
                </a:solidFill>
                <a:latin typeface="Arial"/>
                <a:ea typeface="Arial"/>
                <a:cs typeface="Arial"/>
              </a:defRPr>
            </a:pPr>
            <a:r>
              <a:rPr sz="3600" b="1">
                <a:solidFill>
                  <a:srgbClr val="9BDCF1"/>
                </a:solidFill>
                <a:latin typeface="Arial"/>
                <a:ea typeface="Arial"/>
                <a:cs typeface="Arial"/>
              </a:rPr>
              <a:t>240</a:t>
            </a:r>
          </a:p>
        </p:txBody>
      </p:sp>
      <p:sp>
        <p:nvSpPr>
          <p:cNvPr id="7" name="close-label-1">
            <a:extLst xmlns:a="http://schemas.openxmlformats.org/drawingml/2006/main">
              <a:ext uri="{FF2B5EF4-FFF2-40B4-BE49-F238E27FC236}">
                <a16:creationId xmlns:a16="http://schemas.microsoft.com/office/drawing/2014/main" id="{B1A7DF4B-D50F-4577-BE6F-8DEFD1722CE5}"/>
              </a:ext>
            </a:extLst>
          </p:cNvPr>
          <p:cNvSpPr>
            <a:spLocks xmlns:a="http://schemas.openxmlformats.org/drawingml/2006/main" noGrp="1"/>
          </p:cNvSpPr>
          <p:nvPr/>
        </p:nvSpPr>
        <p:spPr>
          <a:xfrm xmlns:a="http://schemas.openxmlformats.org/drawingml/2006/main">
            <a:off x="3124200" y="4476750"/>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BFD0DA"/>
                </a:solidFill>
                <a:latin typeface="Arial"/>
                <a:ea typeface="Arial"/>
                <a:cs typeface="Arial"/>
              </a:defRPr>
            </a:pPr>
            <a:r>
              <a:rPr sz="1350" b="0">
                <a:solidFill>
                  <a:srgbClr val="BFD0DA"/>
                </a:solidFill>
                <a:latin typeface="Arial"/>
                <a:ea typeface="Arial"/>
                <a:cs typeface="Arial"/>
              </a:rPr>
              <a:t>sample records</a:t>
            </a:r>
          </a:p>
        </p:txBody>
      </p:sp>
      <p:sp>
        <p:nvSpPr>
          <p:cNvPr id="8" name="close-value-2">
            <a:extLst xmlns:a="http://schemas.openxmlformats.org/drawingml/2006/main">
              <a:ext uri="{FF2B5EF4-FFF2-40B4-BE49-F238E27FC236}">
                <a16:creationId xmlns:a16="http://schemas.microsoft.com/office/drawing/2014/main" id="{238D4861-9B16-42F4-B4A6-0F1085447078}"/>
              </a:ext>
            </a:extLst>
          </p:cNvPr>
          <p:cNvSpPr>
            <a:spLocks xmlns:a="http://schemas.openxmlformats.org/drawingml/2006/main" noGrp="1"/>
          </p:cNvSpPr>
          <p:nvPr/>
        </p:nvSpPr>
        <p:spPr>
          <a:xfrm xmlns:a="http://schemas.openxmlformats.org/drawingml/2006/main">
            <a:off x="5695950" y="3733800"/>
            <a:ext cx="1714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2</a:t>
            </a:r>
          </a:p>
        </p:txBody>
      </p:sp>
      <p:sp>
        <p:nvSpPr>
          <p:cNvPr id="9" name="close-label-2">
            <a:extLst xmlns:a="http://schemas.openxmlformats.org/drawingml/2006/main">
              <a:ext uri="{FF2B5EF4-FFF2-40B4-BE49-F238E27FC236}">
                <a16:creationId xmlns:a16="http://schemas.microsoft.com/office/drawing/2014/main" id="{991036BC-8989-4548-9D19-FD6C60700CE9}"/>
              </a:ext>
            </a:extLst>
          </p:cNvPr>
          <p:cNvSpPr>
            <a:spLocks xmlns:a="http://schemas.openxmlformats.org/drawingml/2006/main" noGrp="1"/>
          </p:cNvSpPr>
          <p:nvPr/>
        </p:nvSpPr>
        <p:spPr>
          <a:xfrm xmlns:a="http://schemas.openxmlformats.org/drawingml/2006/main">
            <a:off x="5695950" y="4476750"/>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BFD0DA"/>
                </a:solidFill>
                <a:latin typeface="Arial"/>
                <a:ea typeface="Arial"/>
                <a:cs typeface="Arial"/>
              </a:defRPr>
            </a:pPr>
            <a:r>
              <a:rPr sz="1350" b="0">
                <a:solidFill>
                  <a:srgbClr val="BFD0DA"/>
                </a:solidFill>
                <a:latin typeface="Arial"/>
                <a:ea typeface="Arial"/>
                <a:cs typeface="Arial"/>
              </a:rPr>
              <a:t>reusable views</a:t>
            </a:r>
          </a:p>
        </p:txBody>
      </p:sp>
      <p:sp>
        <p:nvSpPr>
          <p:cNvPr id="10" name="close-value-3">
            <a:extLst xmlns:a="http://schemas.openxmlformats.org/drawingml/2006/main">
              <a:ext uri="{FF2B5EF4-FFF2-40B4-BE49-F238E27FC236}">
                <a16:creationId xmlns:a16="http://schemas.microsoft.com/office/drawing/2014/main" id="{E241DBE0-5607-445C-A096-7D439C7F0A78}"/>
              </a:ext>
            </a:extLst>
          </p:cNvPr>
          <p:cNvSpPr>
            <a:spLocks xmlns:a="http://schemas.openxmlformats.org/drawingml/2006/main" noGrp="1"/>
          </p:cNvSpPr>
          <p:nvPr/>
        </p:nvSpPr>
        <p:spPr>
          <a:xfrm xmlns:a="http://schemas.openxmlformats.org/drawingml/2006/main">
            <a:off x="8267700" y="3733800"/>
            <a:ext cx="1714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6</a:t>
            </a:r>
          </a:p>
        </p:txBody>
      </p:sp>
      <p:sp>
        <p:nvSpPr>
          <p:cNvPr id="11" name="close-label-3">
            <a:extLst xmlns:a="http://schemas.openxmlformats.org/drawingml/2006/main">
              <a:ext uri="{FF2B5EF4-FFF2-40B4-BE49-F238E27FC236}">
                <a16:creationId xmlns:a16="http://schemas.microsoft.com/office/drawing/2014/main" id="{5EE2D6BD-5145-4122-A826-665B2907F518}"/>
              </a:ext>
            </a:extLst>
          </p:cNvPr>
          <p:cNvSpPr>
            <a:spLocks xmlns:a="http://schemas.openxmlformats.org/drawingml/2006/main" noGrp="1"/>
          </p:cNvSpPr>
          <p:nvPr/>
        </p:nvSpPr>
        <p:spPr>
          <a:xfrm xmlns:a="http://schemas.openxmlformats.org/drawingml/2006/main">
            <a:off x="8267700" y="4476750"/>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BFD0DA"/>
                </a:solidFill>
                <a:latin typeface="Arial"/>
                <a:ea typeface="Arial"/>
                <a:cs typeface="Arial"/>
              </a:defRPr>
            </a:pPr>
            <a:r>
              <a:rPr sz="1350" b="0">
                <a:solidFill>
                  <a:srgbClr val="BFD0DA"/>
                </a:solidFill>
                <a:latin typeface="Arial"/>
                <a:ea typeface="Arial"/>
                <a:cs typeface="Arial"/>
              </a:rPr>
              <a:t>supporting indexes</a:t>
            </a:r>
          </a:p>
        </p:txBody>
      </p:sp>
      <p:sp>
        <p:nvSpPr>
          <p:cNvPr id="12" name="close-next">
            <a:extLst xmlns:a="http://schemas.openxmlformats.org/drawingml/2006/main">
              <a:ext uri="{FF2B5EF4-FFF2-40B4-BE49-F238E27FC236}">
                <a16:creationId xmlns:a16="http://schemas.microsoft.com/office/drawing/2014/main" id="{27849B82-0382-4AB8-8DDD-DFA546889676}"/>
              </a:ext>
            </a:extLst>
          </p:cNvPr>
          <p:cNvSpPr>
            <a:spLocks xmlns:a="http://schemas.openxmlformats.org/drawingml/2006/main" noGrp="1"/>
          </p:cNvSpPr>
          <p:nvPr/>
        </p:nvSpPr>
        <p:spPr>
          <a:xfrm xmlns:a="http://schemas.openxmlformats.org/drawingml/2006/main">
            <a:off x="552450" y="53340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Next improvement: add Resource_Copies to track individual textbooks and equipment.</a:t>
            </a:r>
          </a:p>
        </p:txBody>
      </p:sp>
      <p:sp>
        <p:nvSpPr>
          <p:cNvPr id="13" name="close-repo-label">
            <a:extLst xmlns:a="http://schemas.openxmlformats.org/drawingml/2006/main">
              <a:ext uri="{FF2B5EF4-FFF2-40B4-BE49-F238E27FC236}">
                <a16:creationId xmlns:a16="http://schemas.microsoft.com/office/drawing/2014/main" id="{0EF7889D-0BFD-4B0B-9B9C-8B52DA7728BA}"/>
              </a:ext>
            </a:extLst>
          </p:cNvPr>
          <p:cNvSpPr>
            <a:spLocks xmlns:a="http://schemas.openxmlformats.org/drawingml/2006/main" noGrp="1"/>
          </p:cNvSpPr>
          <p:nvPr/>
        </p:nvSpPr>
        <p:spPr>
          <a:xfrm xmlns:a="http://schemas.openxmlformats.org/drawingml/2006/main">
            <a:off x="552450" y="60483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1">
                <a:solidFill>
                  <a:srgbClr val="9BDCF1"/>
                </a:solidFill>
                <a:latin typeface="Arial"/>
                <a:ea typeface="Arial"/>
                <a:cs typeface="Arial"/>
              </a:defRPr>
            </a:pPr>
            <a:r>
              <a:rPr sz="900" b="1">
                <a:solidFill>
                  <a:srgbClr val="9BDCF1"/>
                </a:solidFill>
                <a:latin typeface="Arial"/>
                <a:ea typeface="Arial"/>
                <a:cs typeface="Arial"/>
              </a:rPr>
              <a:t>GITHUB REPOSITORY</a:t>
            </a:r>
          </a:p>
        </p:txBody>
      </p:sp>
      <p:sp>
        <p:nvSpPr>
          <p:cNvPr id="14" name="close-repo">
            <a:extLst xmlns:a="http://schemas.openxmlformats.org/drawingml/2006/main">
              <a:ext uri="{FF2B5EF4-FFF2-40B4-BE49-F238E27FC236}">
                <a16:creationId xmlns:a16="http://schemas.microsoft.com/office/drawing/2014/main" id="{E9029484-4914-4546-8B79-888B052D46F7}"/>
              </a:ext>
            </a:extLst>
          </p:cNvPr>
          <p:cNvSpPr>
            <a:spLocks xmlns:a="http://schemas.openxmlformats.org/drawingml/2006/main" noGrp="1"/>
          </p:cNvSpPr>
          <p:nvPr/>
        </p:nvSpPr>
        <p:spPr>
          <a:xfrm xmlns:a="http://schemas.openxmlformats.org/drawingml/2006/main">
            <a:off x="2476500" y="6010275"/>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github.com/josehorta21/educational-resource-database-project</a:t>
            </a:r>
          </a:p>
        </p:txBody>
      </p:sp>
      <p:sp>
        <p:nvSpPr>
          <p:cNvPr id="15" name="close-presenter">
            <a:extLst xmlns:a="http://schemas.openxmlformats.org/drawingml/2006/main">
              <a:ext uri="{FF2B5EF4-FFF2-40B4-BE49-F238E27FC236}">
                <a16:creationId xmlns:a16="http://schemas.microsoft.com/office/drawing/2014/main" id="{53A23669-CD6D-4329-BFD7-1993656E620C}"/>
              </a:ext>
            </a:extLst>
          </p:cNvPr>
          <p:cNvSpPr>
            <a:spLocks xmlns:a="http://schemas.openxmlformats.org/drawingml/2006/main" noGrp="1"/>
          </p:cNvSpPr>
          <p:nvPr/>
        </p:nvSpPr>
        <p:spPr>
          <a:xfrm xmlns:a="http://schemas.openxmlformats.org/drawingml/2006/main">
            <a:off x="8896350" y="6496050"/>
            <a:ext cx="276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1">
                <a:solidFill>
                  <a:srgbClr val="BFD0DA"/>
                </a:solidFill>
                <a:latin typeface="Arial"/>
                <a:ea typeface="Arial"/>
                <a:cs typeface="Arial"/>
              </a:defRPr>
            </a:pPr>
            <a:r>
              <a:rPr sz="900" b="1">
                <a:solidFill>
                  <a:srgbClr val="BFD0DA"/>
                </a:solidFill>
                <a:latin typeface="Arial"/>
                <a:ea typeface="Arial"/>
                <a:cs typeface="Arial"/>
              </a:rPr>
              <a:t>JOSE ANTONIO HORTA HERRERA</a:t>
            </a:r>
          </a:p>
        </p:txBody>
      </p:sp>
    </p:spTree>
    <p:extLst>
      <p:ext uri="{BB962C8B-B14F-4D97-AF65-F5344CB8AC3E}">
        <p14:creationId xmlns:p14="http://schemas.microsoft.com/office/powerpoint/2010/main" val="17933448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2026-08-27T22:24:39.1890000Z</dcterms:created>
  <dcterms:modified xsi:type="dcterms:W3CDTF">2026-08-27T22:24:39.1890000Z</dcterms:modified>
</coreProperties>
</file>